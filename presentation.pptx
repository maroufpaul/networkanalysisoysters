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Optimal Oyster Reef Site Selection</a:t>
            </a:r>
            <a:br/>
            <a:r>
              <a:t>in the Chesapeake Bay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DEFB"/>
                </a:solidFill>
                <a:latin typeface="Calibri"/>
              </a:defRPr>
            </a:pPr>
            <a:r>
              <a:t>Combining ODE Modeling, Heuristic Optimization, and</a:t>
            </a:r>
            <a:br/>
            <a:r>
              <a:t>Mixed-Integer Quadratic Programming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Paul Marouf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237E"/>
                </a:solidFill>
                <a:latin typeface="Calibri"/>
              </a:defRPr>
            </a:pPr>
            <a:r>
              <a:t>The Problem: Oyster Reef Restoration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  <a:latin typeface="Calibri"/>
              </a:defRPr>
            </a:pPr>
            <a:r>
              <a:t>Chesapeake Bay has lost ~99% of its oyster population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From ~10 billion to fewer than 100 million</a:t>
            </a:r>
          </a:p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  <a:latin typeface="Calibri"/>
              </a:defRPr>
            </a:pPr>
            <a:r>
              <a:t>Restoration is expensive and resource-constrained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We can only restore 25 of 48 candidate reef sites</a:t>
            </a:r>
          </a:p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  <a:latin typeface="Calibri"/>
              </a:defRPr>
            </a:pPr>
            <a:r>
              <a:t>Key question: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Which 25 sites maximize total adult oyster biomass,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given the larval connectivity network between reefs?</a:t>
            </a:r>
          </a:p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  <a:latin typeface="Calibri"/>
              </a:defRPr>
            </a:pPr>
            <a:r>
              <a:t>This is a combinatorial optimization problem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C(48, 25) = 1.4 trillion possible selections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Brute force is impossible - need smart algorithms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37E"/>
                </a:solidFill>
                <a:latin typeface="Calibri"/>
              </a:defRPr>
            </a:pPr>
            <a:r>
              <a:t>The Biological Model: JARS ODE (Provided by Dr. Shaw)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33333"/>
                </a:solidFill>
                <a:latin typeface="Calibri"/>
              </a:defRPr>
            </a:pPr>
            <a:r>
              <a:t>4-state ODE system simulates oyster life stages across reef patches: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J = Juveniles  |  A = Adults (biomass)  |  R = Reef/shell  |  S = Sediment</a:t>
            </a:r>
          </a:p>
          <a:p>
            <a:pPr>
              <a:spcAft>
                <a:spcPts val="800"/>
              </a:spcAft>
              <a:defRPr sz="1500" b="1">
                <a:solidFill>
                  <a:srgbClr val="333333"/>
                </a:solidFill>
                <a:latin typeface="Calibri"/>
              </a:defRPr>
            </a:pPr>
            <a:r>
              <a:t>Sites are coupled through larval dispersal: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P0 = external larvae input (from outside the network)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P1 = internal connectivity matrix (larvae exchanged between sites)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Larval input = (P0 + P1' * |A|^1.72) * L(A,R) * f(A,R,S)</a:t>
            </a:r>
          </a:p>
          <a:p>
            <a:pPr>
              <a:spcAft>
                <a:spcPts val="800"/>
              </a:spcAft>
              <a:defRPr sz="1500" b="1">
                <a:solidFill>
                  <a:srgbClr val="333333"/>
                </a:solidFill>
                <a:latin typeface="Calibri"/>
              </a:defRPr>
            </a:pPr>
            <a:r>
              <a:t>Key property: nonlinear interactions between sites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A site's value depends on which OTHER sites are also active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Evaluating one subset = solving a 4N-dimensional ODE to t=1000</a:t>
            </a:r>
          </a:p>
          <a:p>
            <a:pPr>
              <a:spcAft>
                <a:spcPts val="800"/>
              </a:spcAft>
              <a:defRPr sz="1500" b="1">
                <a:solidFill>
                  <a:srgbClr val="333333"/>
                </a:solidFill>
                <a:latin typeface="Calibri"/>
              </a:defRPr>
            </a:pPr>
            <a:r>
              <a:t>Objective: maximize total adult biomass sum(A) at equilibrium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37E"/>
                </a:solidFill>
                <a:latin typeface="Calibri"/>
              </a:defRPr>
            </a:pPr>
            <a:r>
              <a:t>Larval Connectivity Network</a:t>
            </a:r>
          </a:p>
        </p:txBody>
      </p:sp>
      <p:pic>
        <p:nvPicPr>
          <p:cNvPr id="3" name="Picture 2" descr="fig8_connectivit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731520"/>
            <a:ext cx="54864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720" y="137160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Data: 56-site connectivity matrix from oceanographic modeling</a:t>
            </a:r>
            <a:br/>
            <a:br/>
            <a:r>
              <a:t>Strong connectivity clusters visible (hot cells)</a:t>
            </a:r>
            <a:br/>
            <a:br/>
            <a:r>
              <a:t>Sites 10, 15, 27-29, 31-32, 40-41 form a highly connected core</a:t>
            </a:r>
            <a:br/>
            <a:br/>
            <a:r>
              <a:t>Sparse regions indicate isolated sites with low restoration value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37E"/>
                </a:solidFill>
                <a:latin typeface="Calibri"/>
              </a:defRPr>
            </a:pPr>
            <a:r>
              <a:t>My Contribution: Three Solution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33333"/>
                </a:solidFill>
                <a:latin typeface="Calibri"/>
              </a:defRPr>
            </a:pPr>
            <a:r>
              <a:t>Approach 1: Heuristic Search (uses full ODE)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Forward greedy: add best site one at a time (25 rounds)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Backward elimination: start with all 48, remove least impactful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Local search: 1-swap hill climbing to refine greedy output</a:t>
            </a:r>
          </a:p>
          <a:p>
            <a:pPr>
              <a:spcAft>
                <a:spcPts val="800"/>
              </a:spcAft>
              <a:defRPr sz="1500" b="1">
                <a:solidFill>
                  <a:srgbClr val="333333"/>
                </a:solidFill>
                <a:latin typeface="Calibri"/>
              </a:defRPr>
            </a:pPr>
            <a:r>
              <a:t>Approach 2: MIQP Surrogate (my key contribution)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ODE too expensive for exact optimization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Built a quadratic surrogate: max sum(Pe_i * x_i) + sum(W_ij * x_i * x_j)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W_ij = P1_ij * (A*)^1.72 approximates the network effect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Solved exactly with Gurobi in 0.32 seconds</a:t>
            </a:r>
          </a:p>
          <a:p>
            <a:pPr>
              <a:spcAft>
                <a:spcPts val="800"/>
              </a:spcAft>
              <a:defRPr sz="1500" b="1">
                <a:solidFill>
                  <a:srgbClr val="333333"/>
                </a:solidFill>
                <a:latin typeface="Calibri"/>
              </a:defRPr>
            </a:pPr>
            <a:r>
              <a:t>Approach 3: Constrained MIQP Variants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Community constraints: minimum reefs per geographic region</a:t>
            </a:r>
          </a:p>
          <a:p>
            <a:pPr lvl="1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Sizing constraints: optimize reef area allocation under budget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37E"/>
                </a:solidFill>
                <a:latin typeface="Calibri"/>
              </a:defRPr>
            </a:pPr>
            <a:r>
              <a:t>Greedy Site Selection: Marginal Returns</a:t>
            </a:r>
          </a:p>
        </p:txBody>
      </p:sp>
      <p:pic>
        <p:nvPicPr>
          <p:cNvPr id="3" name="Picture 2" descr="fig7_greed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99" y="64008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3949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Each added site increases biomass, with a jump at sites 17-18 (adding hub sites 40, 41). Greedy+Local Search ultimately achieves the best ODE score (1.862).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37E"/>
                </a:solidFill>
                <a:latin typeface="Calibri"/>
              </a:defRPr>
            </a:pPr>
            <a:r>
              <a:t>ODE-Validated Performance Comparison</a:t>
            </a:r>
          </a:p>
        </p:txBody>
      </p:sp>
      <p:pic>
        <p:nvPicPr>
          <p:cNvPr id="3" name="Picture 2" descr="fig1_sco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640080"/>
            <a:ext cx="68580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All methods validated through the full JARS ODE (tmax=1000). Greedy+Local achieves the highest biomass. MIQP is 8% behind but solves in 0.3s vs 32 min. Community constraints reduce score by 26% - the cost of geographic fairness.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37E"/>
                </a:solidFill>
                <a:latin typeface="Calibri"/>
              </a:defRPr>
            </a:pPr>
            <a:r>
              <a:t>Computational Time: Heuristics vs MIQP</a:t>
            </a:r>
          </a:p>
        </p:txBody>
      </p:sp>
      <p:pic>
        <p:nvPicPr>
          <p:cNvPr id="3" name="Picture 2" descr="fig9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640080"/>
            <a:ext cx="640080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MIQP solves 6,000x faster than Greedy+Local. The surrogate trades ~8% accuracy for near-instant solutions, enabling rapid what-if analysis and constraint exploration.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37E"/>
                </a:solidFill>
                <a:latin typeface="Calibri"/>
              </a:defRPr>
            </a:pPr>
            <a:r>
              <a:t>Optimality Gap Analysis</a:t>
            </a:r>
          </a:p>
        </p:txBody>
      </p:sp>
      <p:pic>
        <p:nvPicPr>
          <p:cNvPr id="3" name="Picture 2" descr="fig10_optimality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73152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Backward greedy is within 2.3% of the best. MIQP's 8% gap reflects the surrogate approximation - it optimizes a linearized proxy, not the true nonlinear ODE. Community constraints show the explicit cost of policy requirements.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37E"/>
                </a:solidFill>
                <a:latin typeface="Calibri"/>
              </a:defRPr>
            </a:pPr>
            <a:r>
              <a:t>Agreement Between Methods</a:t>
            </a:r>
          </a:p>
        </p:txBody>
      </p:sp>
      <p:pic>
        <p:nvPicPr>
          <p:cNvPr id="3" name="Picture 2" descr="fig2_site_overl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548640"/>
            <a:ext cx="5029200" cy="44005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09728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Jaccard similarity measures overlap.</a:t>
            </a:r>
            <a:br/>
            <a:br/>
            <a:r>
              <a:t>MIQP variants agree strongly with each other (0.72)</a:t>
            </a:r>
            <a:br/>
            <a:br/>
            <a:r>
              <a:t>Backward agrees with MIQP (0.72) - similar ranking of site importance</a:t>
            </a:r>
            <a:br/>
            <a:br/>
            <a:r>
              <a:t>Greedy+Local is most different (0.35-0.56) - local search swaps change the set</a:t>
            </a:r>
            <a:br/>
            <a:br/>
            <a:r>
              <a:t>Despite different selections, all methods share a consensus core of ~10 sites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37E"/>
                </a:solidFill>
                <a:latin typeface="Calibri"/>
              </a:defRPr>
            </a:pPr>
            <a:r>
              <a:t>Consensus Core: Sites All Methods Agree On</a:t>
            </a:r>
          </a:p>
        </p:txBody>
      </p:sp>
      <p:pic>
        <p:nvPicPr>
          <p:cNvPr id="3" name="Picture 2" descr="fig4_consensus_s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0080"/>
            <a:ext cx="8229600" cy="29391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114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10 sites selected by ALL 5 methods: 10, 15, 31, 32, 37, 40, 41, 49, 51, 52, 53</a:t>
            </a:r>
            <a:br/>
            <a:r>
              <a:t>These are the highest-confidence restoration targets regardless of methodology.</a:t>
            </a:r>
            <a:br/>
            <a:br/>
            <a:r>
              <a:t>7 more sites selected by 4/5 methods: 16, 17, 21, 27, 33, 36, 47, 59</a:t>
            </a:r>
            <a:br/>
            <a:r>
              <a:t>Strong candidates with broad algorithmic support.</a:t>
            </a:r>
            <a:br/>
            <a:br/>
            <a:r>
              <a:t>Only 8 sites are contested (selected by 1-2 methods) - these are the edge cases where methodology choice matters most.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37E"/>
                </a:solidFill>
                <a:latin typeface="Calibri"/>
              </a:defRPr>
            </a:pPr>
            <a:r>
              <a:t>Network Analysis: Why These Sites?</a:t>
            </a:r>
          </a:p>
        </p:txBody>
      </p:sp>
      <p:pic>
        <p:nvPicPr>
          <p:cNvPr id="3" name="Picture 2" descr="fig5_network_centr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0080"/>
            <a:ext cx="8229600" cy="26569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114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MIQP-selected sites (blue) dominate all network centrality metrics:</a:t>
            </a:r>
            <a:br/>
            <a:r>
              <a:t>  - In-Strength: these sites receive the most larvae from the network</a:t>
            </a:r>
            <a:br/>
            <a:r>
              <a:t>  - Out-Strength: these sites export the most larvae to other sites</a:t>
            </a:r>
            <a:br/>
            <a:r>
              <a:t>  - PageRank: these sites are the most 'important' in the connectivity graph</a:t>
            </a:r>
            <a:br/>
            <a:br/>
            <a:r>
              <a:t>Top network hubs (sites 10, 31, 32, 40, 41) are consensus picks across all methods.</a:t>
            </a:r>
            <a:br/>
            <a:r>
              <a:t>The optimization naturally selects network-central sites.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37E"/>
                </a:solidFill>
                <a:latin typeface="Calibri"/>
              </a:defRPr>
            </a:pPr>
            <a:r>
              <a:t>MIQP Extension: Optimal Reef Size Allocation</a:t>
            </a:r>
          </a:p>
        </p:txBody>
      </p:sp>
      <p:pic>
        <p:nvPicPr>
          <p:cNvPr id="3" name="Picture 2" descr="fig6_reef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0080"/>
            <a:ext cx="8229600" cy="29391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The MIQP framework naturally extends to variable reef sizing.</a:t>
            </a:r>
            <a:br/>
            <a:r>
              <a:t>Network hubs (sites 10-17, 26-33) get maximum allocation.</a:t>
            </a:r>
            <a:br/>
            <a:r>
              <a:t>Peripheral sites (20, 36, 37) get minimal allocation - selected for connectivity, not size.</a:t>
            </a:r>
            <a:br/>
            <a:r>
              <a:t>Community constraints force inclusion of smaller sites (42, 47, 48) at minimum size.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37E"/>
                </a:solidFill>
                <a:latin typeface="Calibri"/>
              </a:defRPr>
            </a:pPr>
            <a:r>
              <a:t>Complete Site Selection Matrix</a:t>
            </a:r>
          </a:p>
        </p:txBody>
      </p:sp>
      <p:pic>
        <p:nvPicPr>
          <p:cNvPr id="3" name="Picture 2" descr="fig3_site_selec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2571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Blue = selected. Count row at top shows consensus level per site. The dense blue columns (sites 10, 15, 31, 32, 40, 41, 49, 51-53) form the indisputable core. Greedy+Local uniquely selects sites 6, 24, 30, 38, 39, 55, 60.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237E"/>
                </a:solidFill>
                <a:latin typeface="Calibri"/>
              </a:defRPr>
            </a:pPr>
            <a:r>
              <a:t>Summary of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ODE Score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Overlap w/ Best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Trait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Greedy+Local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1.862 (best)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32 min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Best ODE score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Backward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1.819 (-2.3%)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18/25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Fast, good quality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MIQP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1.713 (-8.0%)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0.32 sec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14/25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Near-instant, exact surrogate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MIQP+Comm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1.383 (-25.7%)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&lt;1 sec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15/25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Geographic fairness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MIQP+Comm+Size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N/A*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&lt;1 sec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13/25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Full policy model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* MIQP+Comm+Size uses a different objective (total larvae) so ODE score is not directly comparable.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Key Findings:</a:t>
            </a:r>
            <a:br/>
            <a:r>
              <a:t>  1. Greedy+Local Search achieves the best ODE biomass but takes 32 minutes</a:t>
            </a:r>
            <a:br/>
            <a:r>
              <a:t>  2. MIQP solves in 0.3 seconds and provides a provably optimal surrogate solution</a:t>
            </a:r>
            <a:br/>
            <a:r>
              <a:t>  3. The 8% gap between MIQP and Greedy+Local quantifies the surrogate approximation error</a:t>
            </a:r>
            <a:br/>
            <a:r>
              <a:t>  4. All methods agree on a consensus core of ~10 high-value sites</a:t>
            </a:r>
            <a:br/>
            <a:r>
              <a:t>  5. MIQP framework naturally extends to handle real-world policy constraints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3F2FD"/>
                </a:solidFill>
                <a:latin typeface="Calibri"/>
              </a:defRPr>
            </a:pPr>
            <a:r>
              <a:t>The MIQP surrogate provides a fast, exact benchmark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E3F2FD"/>
                </a:solidFill>
                <a:latin typeface="Calibri"/>
              </a:defRPr>
            </a:pPr>
            <a:r>
              <a:t>Solves in 0.3s what heuristics need 32 minutes for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E3F2FD"/>
                </a:solidFill>
                <a:latin typeface="Calibri"/>
              </a:defRPr>
            </a:pPr>
            <a:r>
              <a:t>Enables rapid exploration of constraints and scenarios</a:t>
            </a:r>
          </a:p>
          <a:p>
            <a:pPr>
              <a:spcAft>
                <a:spcPts val="400"/>
              </a:spcAft>
              <a:defRPr sz="1400" b="0">
                <a:solidFill>
                  <a:srgbClr val="E3F2FD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 b="1">
                <a:solidFill>
                  <a:srgbClr val="E3F2FD"/>
                </a:solidFill>
                <a:latin typeface="Calibri"/>
              </a:defRPr>
            </a:pPr>
            <a:r>
              <a:t>Heuristics outperform the surrogate on the true ODE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E3F2FD"/>
                </a:solidFill>
                <a:latin typeface="Calibri"/>
              </a:defRPr>
            </a:pPr>
            <a:r>
              <a:t>Greedy+Local Search achieves 8% better ODE score than MIQP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E3F2FD"/>
                </a:solidFill>
                <a:latin typeface="Calibri"/>
              </a:defRPr>
            </a:pPr>
            <a:r>
              <a:t>The surrogate approximation is the limiting factor, not the solver</a:t>
            </a:r>
          </a:p>
          <a:p>
            <a:pPr>
              <a:spcAft>
                <a:spcPts val="400"/>
              </a:spcAft>
              <a:defRPr sz="1400" b="0">
                <a:solidFill>
                  <a:srgbClr val="E3F2FD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 b="1">
                <a:solidFill>
                  <a:srgbClr val="E3F2FD"/>
                </a:solidFill>
                <a:latin typeface="Calibri"/>
              </a:defRPr>
            </a:pPr>
            <a:r>
              <a:t>All methods converge on a consensus core of ~10 sites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E3F2FD"/>
                </a:solidFill>
                <a:latin typeface="Calibri"/>
              </a:defRPr>
            </a:pPr>
            <a:r>
              <a:t>Sites 10, 15, 31, 32, 37, 40, 41, 49, 51, 52, 53 are robust picks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E3F2FD"/>
                </a:solidFill>
                <a:latin typeface="Calibri"/>
              </a:defRPr>
            </a:pPr>
            <a:r>
              <a:t>These are the network hubs with highest centrality metrics</a:t>
            </a:r>
          </a:p>
          <a:p>
            <a:pPr>
              <a:spcAft>
                <a:spcPts val="400"/>
              </a:spcAft>
              <a:defRPr sz="1400" b="0">
                <a:solidFill>
                  <a:srgbClr val="E3F2FD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 b="1">
                <a:solidFill>
                  <a:srgbClr val="E3F2FD"/>
                </a:solidFill>
                <a:latin typeface="Calibri"/>
              </a:defRPr>
            </a:pPr>
            <a:r>
              <a:t>The MIQP framework is extensible to real policy needs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E3F2FD"/>
                </a:solidFill>
                <a:latin typeface="Calibri"/>
              </a:defRPr>
            </a:pPr>
            <a:r>
              <a:t>Community fairness, reef sizing, budget constraints all integrate naturally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E3F2FD"/>
                </a:solidFill>
                <a:latin typeface="Calibri"/>
              </a:defRPr>
            </a:pPr>
            <a:r>
              <a:t>Quantifies the cost of policy: geographic fairness costs ~26% biomass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237E"/>
                </a:solidFill>
                <a:latin typeface="Calibri"/>
              </a:defRPr>
            </a:pPr>
            <a:r>
              <a:t>Future Work &amp;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  <a:latin typeface="Calibri"/>
              </a:defRPr>
            </a:pPr>
            <a:r>
              <a:t>Improve the surrogate approximation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Better A* estimate (per-site instead of median)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Higher-order terms or piecewise linearization</a:t>
            </a:r>
          </a:p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  <a:latin typeface="Calibri"/>
              </a:defRPr>
            </a:pPr>
            <a:r>
              <a:t>Robustness analysis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Test with both connectivity matrices (different tidal conditions)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Sensitivity to P1 scaling factor and P0 mode</a:t>
            </a:r>
          </a:p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  <a:latin typeface="Calibri"/>
              </a:defRPr>
            </a:pPr>
            <a:r>
              <a:t>Scalability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Parallelize ODE evaluations for faster heuristic runs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Extend to larger candidate sets or multi-objective formulations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237E"/>
                </a:solidFill>
                <a:latin typeface="Calibri"/>
              </a:defRPr>
            </a:pPr>
            <a:r>
              <a:t>Thank you!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