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3108960"/>
            <a:ext cx="8229600" cy="1270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Optimal Oyster Reef</a:t>
            </a:r>
            <a:br/>
            <a:r>
              <a:t>Site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000" b="0">
                <a:solidFill>
                  <a:srgbClr val="BBDEFB"/>
                </a:solidFill>
                <a:latin typeface="Calibri Light"/>
              </a:defRPr>
            </a:pPr>
            <a:r>
              <a:t>Combining ODE Modeling, Heuristic Optimization,</a:t>
            </a:r>
            <a:br/>
            <a:r>
              <a:t>and Mixed-Integer Quadratic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1270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Paul Marouf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Chesapeake Bay Oyster Restoration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14630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62828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of Chesapeake Bay oysters lost</a:t>
            </a:r>
            <a:br/>
            <a:r>
              <a:t>10 billion  -&gt;  &lt; 100 million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1463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2A4A"/>
                </a:solidFill>
                <a:latin typeface="Calibri"/>
              </a:defRPr>
            </a:pPr>
            <a:r>
              <a:t>25 /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sites we can restore</a:t>
            </a:r>
            <a:br/>
            <a:r>
              <a:t>out of 48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7D32"/>
                </a:solidFill>
                <a:latin typeface="Calibri"/>
              </a:defRPr>
            </a:pPr>
            <a:r>
              <a:t>1.4T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possible combinations</a:t>
            </a:r>
            <a:br/>
            <a:r>
              <a:t>C(48, 25) - brute force impossible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The Optimization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700" b="0">
                <a:solidFill>
                  <a:srgbClr val="424242"/>
                </a:solidFill>
                <a:latin typeface="Calibri"/>
              </a:defRPr>
            </a:pPr>
            <a:r>
              <a:t>Which 25 reef sites should be restored to maximize total adult oyster biomass,</a:t>
            </a:r>
            <a:br/>
            <a:r>
              <a:t>given the larval connectivity network between sites?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757575"/>
                </a:solidFill>
                <a:latin typeface="Calibri"/>
              </a:defRPr>
            </a:pPr>
            <a:r>
              <a:t>Challenge: Each site's value depends on which other sites are also restored.</a:t>
            </a:r>
            <a:br/>
            <a:r>
              <a:t>Larvae flow between reefs through ocean currents, creating network effects</a:t>
            </a:r>
            <a:br/>
            <a:r>
              <a:t>that make this a nonlinear combinatorial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The Biological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JARS ODE System  |  Provided by Dr. Leah Shaw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6459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4242"/>
                </a:solidFill>
                <a:latin typeface="Calibri"/>
              </a:defRPr>
            </a:pPr>
            <a:r>
              <a:t>Juveniles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Newly settled</a:t>
            </a:r>
            <a:br/>
            <a:r>
              <a:t>larvae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46888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4242"/>
                </a:solidFill>
                <a:latin typeface="Calibri"/>
              </a:defRPr>
            </a:pPr>
            <a:r>
              <a:t>Adults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Biomass</a:t>
            </a:r>
            <a:br/>
            <a:r>
              <a:t>(our objective)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468880" cy="1645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4242"/>
                </a:solidFill>
                <a:latin typeface="Calibri"/>
              </a:defRPr>
            </a:pPr>
            <a:r>
              <a:t>Reef / 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Habitat</a:t>
            </a:r>
            <a:br/>
            <a:r>
              <a:t>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468880" cy="16459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4242"/>
                </a:solidFill>
                <a:latin typeface="Calibri"/>
              </a:defRPr>
            </a:pPr>
            <a:r>
              <a:t>Sediment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Smothering</a:t>
            </a:r>
            <a:br/>
            <a:r>
              <a:t>factor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8328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How Sites Interact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776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Larval input = (P0 + P1' |A|^1.72) * L * f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P0 = external larvae (from outside the network)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P1 = internal connectivity matrix (56 x 56)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|A|^1.72 = nonlinear adult biomass scaling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L, f = habitat quality and survival functions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83280"/>
            <a:ext cx="52120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Computational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776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Each evaluation = solve 4N-dim ODE to t=1000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N = number of sites in the subset (up to 48)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One ODE solve takes ~0.1-0.2 seconds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Greedy needs ~900 evaluations</a:t>
            </a:r>
          </a:p>
          <a:p>
            <a:pPr>
              <a:spcAft>
                <a:spcPts val="4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Need smart methods, not just brute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Larval Connectivity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8_connec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What This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56-site connectivity matrix from</a:t>
            </a:r>
            <a:br/>
            <a:r>
              <a:t>oceanographic larval transport modeling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Hot cells = strong larval flow</a:t>
            </a:r>
            <a:br/>
            <a:r>
              <a:t>between source and destination reefs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Visible clustering: sites 10, 27-29,</a:t>
            </a:r>
            <a:br/>
            <a:r>
              <a:t>31-32, 40-41 form a connected hub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Off-diagonal structure reveals</a:t>
            </a:r>
            <a:br/>
            <a:r>
              <a:t>long-range larval pathways</a:t>
            </a:r>
          </a:p>
          <a:p>
            <a:pPr>
              <a:spcAft>
                <a:spcPts val="10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This network structure drives which</a:t>
            </a:r>
            <a:br/>
            <a:r>
              <a:t>sites are most valuable to restore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My Contribution: Three Solution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83280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Heuristic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Uses full ODE model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Forward Greedy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Add best site one at a time</a:t>
            </a:r>
            <a:br/>
            <a:r>
              <a:t>across 25 rounds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Backward Elimination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Start with all 48 sites,</a:t>
            </a:r>
            <a:br/>
            <a:r>
              <a:t>remove least impactful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Local Search (1-swap)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Refine by swapping sites</a:t>
            </a:r>
            <a:br/>
            <a:r>
              <a:t>in and out of the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5029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MIQP Surrogate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Key innovation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Quadratic Objective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max  sum Pe_i x_i</a:t>
            </a:r>
            <a:br/>
            <a:r>
              <a:t>   + sum W_ij x_i x_j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Surrogate Weights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W_ij = P1_ij * (A*)^1.72</a:t>
            </a:r>
            <a:br/>
            <a:r>
              <a:t>approx. network effect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Exact Solution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Gurobi solver: provably</a:t>
            </a:r>
            <a:br/>
            <a:r>
              <a:t>optimal in 0.32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383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Constrained MIQP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Real-world extensions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Community Constraints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Minimum reefs per</a:t>
            </a:r>
            <a:br/>
            <a:r>
              <a:t>geographic region for fairness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Reef Sizing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Optimize area allocation</a:t>
            </a:r>
            <a:br/>
            <a:r>
              <a:t>per site under total budget</a:t>
            </a:r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Combined Model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Communities + sizing</a:t>
            </a:r>
            <a:br/>
            <a:r>
              <a:t>in a single formulation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Greedy Selection: Marginal Returns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_greed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47" y="1097280"/>
            <a:ext cx="7924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Each site adds biomass, with a jump at sites 17-18 (hub sites 40, 41). Greedy+Local ultimately achieves the best ODE-validated score of 1.862.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ODE-Validated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sco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47" y="1097280"/>
            <a:ext cx="762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All solutions validated through the full nonlinear JARS ODE (tmax=1000, realistic P0). Greedy+Local achieves highest biomass. MIQP is 8% behind but solves 6,000x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Computational Time: Speed vs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9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4000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389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The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Greedy+Local: 32 min, best score</a:t>
            </a:r>
          </a:p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Backward: 4.7 min, 2.3% gap</a:t>
            </a:r>
          </a:p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MIQP: 0.32 sec, 8% gap</a:t>
            </a:r>
          </a:p>
          <a:p>
            <a:pPr>
              <a:spcAft>
                <a:spcPts val="6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MIQP is 6,000x faster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657600"/>
            <a:ext cx="4389120" cy="21031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794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Why MIQP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251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Enables rapid what-if analysis</a:t>
            </a:r>
          </a:p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Test 100s of constraint scenarios</a:t>
            </a:r>
          </a:p>
          <a:p>
            <a:pPr>
              <a:spcAft>
                <a:spcPts val="6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Interactive decision support</a:t>
            </a:r>
          </a:p>
          <a:p>
            <a:pPr>
              <a:spcAft>
                <a:spcPts val="6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Provably optimal (under surrogate)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Optimality Gap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0_optimalit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47" y="1097280"/>
            <a:ext cx="762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The 8% MIQP gap reflects the surrogate approximation error, not the solver. Community constraints cost ~26% biomass - quantifying the price of geographic fairness.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Method Agreement: Which Sites Overlap?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site_overl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5200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508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Reading the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Jaccard = |intersection| / |union|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MIQP variants agree strongly</a:t>
            </a:r>
            <a:br/>
            <a:r>
              <a:t>with each other (J = 0.72)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Backward and MIQP are quite</a:t>
            </a:r>
            <a:br/>
            <a:r>
              <a:t>similar (J = 0.72) - they rank</a:t>
            </a:r>
            <a:br/>
            <a:r>
              <a:t>site importance similarly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Greedy+Local is most distinct</a:t>
            </a:r>
            <a:br/>
            <a:r>
              <a:t>(J = 0.35-0.56) due to local</a:t>
            </a:r>
            <a:br/>
            <a:r>
              <a:t>search swaps</a:t>
            </a:r>
          </a:p>
          <a:p>
            <a:pPr>
              <a:spcAft>
                <a:spcPts val="10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t>Despite different selections, all</a:t>
            </a:r>
            <a:br/>
            <a:r>
              <a:t>methods share a consensus 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Consensus Core: High-Confidence Restoration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consensus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71" y="1097280"/>
            <a:ext cx="9217152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3383280" cy="1828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All 5 Methods (10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424242"/>
                </a:solidFill>
                <a:latin typeface="Calibri"/>
              </a:defRPr>
            </a:pPr>
            <a:r>
              <a:t>10, 15, 31, 32, 37, 40, 41,</a:t>
            </a:r>
            <a:br/>
            <a:r>
              <a:t>49, 51, 52, 53</a:t>
            </a:r>
            <a:br/>
            <a:br/>
            <a:r>
              <a:t>Highest-confidence targets</a:t>
            </a:r>
            <a:br/>
            <a:r>
              <a:t>regardless of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63440"/>
            <a:ext cx="3383280" cy="18288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F17"/>
                </a:solidFill>
                <a:latin typeface="Calibri"/>
              </a:defRPr>
            </a:pPr>
            <a:r>
              <a:t>4/5 Methods (7 sites)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424242"/>
                </a:solidFill>
                <a:latin typeface="Calibri"/>
              </a:defRPr>
            </a:pPr>
            <a:r>
              <a:t>16, 17, 21, 27, 33, 36, 47, 59</a:t>
            </a:r>
            <a:br/>
            <a:br/>
            <a:r>
              <a:t>Strong candidates with</a:t>
            </a:r>
            <a:br/>
            <a:r>
              <a:t>broad algorithmic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663440"/>
            <a:ext cx="3383280" cy="18288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1-2 Methods (8 sites)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74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424242"/>
                </a:solidFill>
                <a:latin typeface="Calibri"/>
              </a:defRPr>
            </a:pPr>
            <a:r>
              <a:t>4, 6, 11, 19, 24, 30, 38, etc.</a:t>
            </a:r>
            <a:br/>
            <a:br/>
            <a:r>
              <a:t>Contested sites where</a:t>
            </a:r>
            <a:br/>
            <a:r>
              <a:t>methodology choice matters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Network Analysis: Why Are These Sites Selected?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network_centr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33950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424242"/>
                </a:solidFill>
                <a:latin typeface="Calibri"/>
              </a:defRPr>
            </a:pPr>
            <a:r>
              <a:t>MIQP-selected sites (blue) dominate all network centrality metrics - they are the hubs that receive and export the most larvae. The optimization naturally discovers network-central sites. Top hubs (sites 10, 31, 32, 40, 41) are consensus picks across every method tested.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MIQP Extension: Optimal Reef Size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reef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3755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757575"/>
                </a:solidFill>
                <a:latin typeface="Calibri"/>
              </a:defRPr>
            </a:pPr>
            <a:r>
              <a:t>The MIQP framework naturally extends to variable reef sizing under a total area budget. Network hubs get maximum allocation (50 units). Peripheral sites get minimal allocation - included for connectivity value, not local productivity. Community constraints force inclusion of smaller sites (42, 47, 48) at minimum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Complete Site Selection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site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88720"/>
            <a:ext cx="109728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300" b="0">
                <a:solidFill>
                  <a:srgbClr val="757575"/>
                </a:solidFill>
                <a:latin typeface="Calibri"/>
              </a:defRPr>
            </a:pPr>
            <a:r>
              <a:t>Blue = selected. Count row shows consensus level. Dense blue columns (10, 15, 31, 32, 40, 41, 49, 51-53) form the indisputable core. Greedy+Local uniquely selects sites 6, 24, 30, 38, 39, 55, 60.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t>Summary of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645920"/>
                <a:gridCol w="2011680"/>
                <a:gridCol w="30175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ODE Score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Overlap w/ Best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Trait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Greedy + Local Search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1.862  (best)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32 min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Best true ODE score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Backward Elimination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1.819  (-2.3%)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4.7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 /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Fast, strong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MIQP (plain)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1.713  (-8.0%)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0.32 sec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 / 25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Near-instant, exact surrogate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MIQP + Communities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1.383  (-25.7%)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&lt; 1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 /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Geographic fairness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MIQP + Comm + Sizing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&lt; 1 sec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13 / 25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policy model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Greedy+Local achieves the best ODE biomass but requires 32 minutes of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83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9834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MIQP solves in 0.3 seconds - provably optimal under the quadratic surrogate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The 8% gap between MIQP and Greedy quantifies the surrogate approximation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6235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All methods agree on a consensus core of 10-11 high-value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943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E5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The MIQP framework naturally extends to community fairness and reef sizing constraints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51560"/>
            <a:ext cx="182880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11887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DEFB"/>
                </a:solidFill>
                <a:latin typeface="Calibri"/>
              </a:defRPr>
            </a:pPr>
            <a:r>
              <a:t>MIQP surrogate = fast, exact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>
                <a:solidFill>
                  <a:srgbClr val="B0BEC5"/>
                </a:solidFill>
                <a:latin typeface="Calibri"/>
              </a:defRPr>
            </a:pPr>
            <a:r>
              <a:t>Solves in 0.3 seconds what heuristics need 32 minutes for.</a:t>
            </a:r>
            <a:br/>
            <a:r>
              <a:t>Enables rapid exploration of constraints and scenarios.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697480"/>
            <a:ext cx="9418320" cy="11887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788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DEFB"/>
                </a:solidFill>
                <a:latin typeface="Calibri"/>
              </a:defRPr>
            </a:pPr>
            <a:r>
              <a:t>Heuristics outperform the surrogate on true 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54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>
                <a:solidFill>
                  <a:srgbClr val="B0BEC5"/>
                </a:solidFill>
                <a:latin typeface="Calibri"/>
              </a:defRPr>
            </a:pPr>
            <a:r>
              <a:t>Greedy+Local achieves 8% better ODE score than MIQP.</a:t>
            </a:r>
            <a:br/>
            <a:r>
              <a:t>The surrogate approximation is the limiting factor, not the solver.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18320" cy="11887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114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DEFB"/>
                </a:solidFill>
                <a:latin typeface="Calibri"/>
              </a:defRPr>
            </a:pPr>
            <a:r>
              <a:t>All methods converge on a consensus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480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>
                <a:solidFill>
                  <a:srgbClr val="B0BEC5"/>
                </a:solidFill>
                <a:latin typeface="Calibri"/>
              </a:defRPr>
            </a:pPr>
            <a:r>
              <a:t>Sites 10, 15, 31, 32, 37, 40, 41, 49, 51, 52, 53</a:t>
            </a:r>
            <a:br/>
            <a:r>
              <a:t>are robust picks regardless of methodology. These are network hubs.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49240"/>
            <a:ext cx="9418320" cy="11887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2A3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44067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DEFB"/>
                </a:solidFill>
                <a:latin typeface="Calibri"/>
              </a:defRPr>
            </a:pPr>
            <a:r>
              <a:t>MIQP framework is extensible to real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806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>
                <a:solidFill>
                  <a:srgbClr val="B0BEC5"/>
                </a:solidFill>
                <a:latin typeface="Calibri"/>
              </a:defRPr>
            </a:pPr>
            <a:r>
              <a:t>Community fairness, reef sizing, budget constraints integrate naturally.</a:t>
            </a:r>
            <a:br/>
            <a:r>
              <a:t>Quantifies the cost of policy: geographic fairness costs ~26% biomass.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B0BEC5"/>
                </a:solidFill>
                <a:latin typeface="Calibri"/>
              </a:defRPr>
            </a:pPr>
            <a:r>
              <a:t>Improve surrogate approximation (per-site A* instead of median)</a:t>
            </a:r>
          </a:p>
          <a:p>
            <a:pPr>
              <a:spcAft>
                <a:spcPts val="1400"/>
              </a:spcAft>
              <a:defRPr sz="1500" b="0">
                <a:solidFill>
                  <a:srgbClr val="B0BEC5"/>
                </a:solidFill>
                <a:latin typeface="Calibri"/>
              </a:defRPr>
            </a:pPr>
            <a:r>
              <a:t>Robustness analysis across connectivity matrices and parameters</a:t>
            </a:r>
          </a:p>
          <a:p>
            <a:pPr>
              <a:spcAft>
                <a:spcPts val="1400"/>
              </a:spcAft>
              <a:defRPr sz="1500" b="0">
                <a:solidFill>
                  <a:srgbClr val="B0BEC5"/>
                </a:solidFill>
                <a:latin typeface="Calibri"/>
              </a:defRPr>
            </a:pPr>
            <a:r>
              <a:t>Parallelize ODE evaluations for faster heuristic convergence</a:t>
            </a:r>
          </a:p>
          <a:p>
            <a:pPr>
              <a:spcAft>
                <a:spcPts val="1400"/>
              </a:spcAft>
              <a:defRPr sz="1500" b="0">
                <a:solidFill>
                  <a:srgbClr val="B0BEC5"/>
                </a:solidFill>
                <a:latin typeface="Calibri"/>
              </a:defRPr>
            </a:pPr>
            <a:r>
              <a:t>Extend to multi-objective formulations (biomass + biodiversity)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9418320" cy="12700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