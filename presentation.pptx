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0" y="3108960"/>
            <a:ext cx="8229600" cy="12700"/>
          </a:xfrm>
          <a:prstGeom prst="rect">
            <a:avLst/>
          </a:prstGeom>
          <a:solidFill>
            <a:srgbClr val="2A3F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09728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5200"/>
              </a:lnSpc>
              <a:defRPr sz="4400" b="1">
                <a:solidFill>
                  <a:srgbClr val="FFFFFF"/>
                </a:solidFill>
                <a:latin typeface="Calibri Light"/>
              </a:defRPr>
            </a:pPr>
            <a:r>
              <a:t>Optimal Oyster Reef</a:t>
            </a:r>
            <a:br/>
            <a:r>
              <a:t>Site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2918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800"/>
              </a:lnSpc>
              <a:defRPr sz="2000" b="0">
                <a:solidFill>
                  <a:srgbClr val="BBDEFB"/>
                </a:solidFill>
                <a:latin typeface="Calibri Light"/>
              </a:defRPr>
            </a:pPr>
            <a:r>
              <a:t>Combining ODE Modeling, Heuristic Optimization,</a:t>
            </a:r>
            <a:br/>
            <a:r>
              <a:t>and Mixed-Integer Quadratic Programming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35040"/>
            <a:ext cx="12191695" cy="12700"/>
          </a:xfrm>
          <a:prstGeom prst="rect">
            <a:avLst/>
          </a:prstGeom>
          <a:solidFill>
            <a:srgbClr val="2A3F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53035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Paul Marouf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5760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BDEFB"/>
                </a:solidFill>
                <a:latin typeface="Calibri"/>
              </a:defRPr>
            </a:pPr>
            <a:r>
              <a:t>Chesapeake Bay Oyster Restoration 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D1B2A"/>
                </a:solidFill>
                <a:latin typeface="Calibri Light"/>
              </a:defRPr>
            </a:pPr>
            <a:r>
              <a:t>The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68680"/>
            <a:ext cx="1645920" cy="3810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291840" cy="1463040"/>
          </a:xfrm>
          <a:prstGeom prst="round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087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C62828"/>
                </a:solidFill>
                <a:latin typeface="Calibri"/>
              </a:defRPr>
            </a:pPr>
            <a:r>
              <a:t>99%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424242"/>
                </a:solidFill>
                <a:latin typeface="Calibri"/>
              </a:defRPr>
            </a:pPr>
            <a:r>
              <a:t>of Chesapeake Bay oysters lost</a:t>
            </a:r>
            <a:br/>
            <a:r>
              <a:t>10 billion  -&gt;  &lt; 100 million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371600"/>
            <a:ext cx="3291840" cy="146304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5087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1B2A4A"/>
                </a:solidFill>
                <a:latin typeface="Calibri"/>
              </a:defRPr>
            </a:pPr>
            <a:r>
              <a:t>25 / 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1488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424242"/>
                </a:solidFill>
                <a:latin typeface="Calibri"/>
              </a:defRPr>
            </a:pPr>
            <a:r>
              <a:t>sites we can restore</a:t>
            </a:r>
            <a:br/>
            <a:r>
              <a:t>out of 48 candidates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371600"/>
            <a:ext cx="3291840" cy="146304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5087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2E7D32"/>
                </a:solidFill>
                <a:latin typeface="Calibri"/>
              </a:defRPr>
            </a:pPr>
            <a:r>
              <a:t>1.4T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214884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424242"/>
                </a:solidFill>
                <a:latin typeface="Calibri"/>
              </a:defRPr>
            </a:pPr>
            <a:r>
              <a:t>possible combinations</a:t>
            </a:r>
            <a:br/>
            <a:r>
              <a:t>C(48, 25) - brute force impossible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291840"/>
            <a:ext cx="1069848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429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D1B2A"/>
                </a:solidFill>
                <a:latin typeface="Calibri"/>
              </a:defRPr>
            </a:pPr>
            <a:r>
              <a:t>The Optimization Question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93192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defRPr sz="1700" b="0">
                <a:solidFill>
                  <a:srgbClr val="424242"/>
                </a:solidFill>
                <a:latin typeface="Calibri"/>
              </a:defRPr>
            </a:pPr>
            <a:r>
              <a:t>Which 25 reef sites should be restored to maximize total adult oyster biomass,</a:t>
            </a:r>
            <a:br/>
            <a:r>
              <a:t>given the larval connectivity network between sites?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2120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00"/>
              </a:lnSpc>
              <a:defRPr sz="1400" b="0">
                <a:solidFill>
                  <a:srgbClr val="757575"/>
                </a:solidFill>
                <a:latin typeface="Calibri"/>
              </a:defRPr>
            </a:pPr>
            <a:r>
              <a:t>Challenge: Each site's value depends on which other sites are also restored.</a:t>
            </a:r>
            <a:br/>
            <a:r>
              <a:t>Larvae flow between reefs through ocean currents, creating network effects</a:t>
            </a:r>
            <a:br/>
            <a:r>
              <a:t>that make this a nonlinear combinatorial problem.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D1B2A"/>
                </a:solidFill>
                <a:latin typeface="Calibri Light"/>
              </a:defRPr>
            </a:pPr>
            <a:r>
              <a:t>The Biological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68680"/>
            <a:ext cx="1645920" cy="3810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57575"/>
                </a:solidFill>
                <a:latin typeface="Calibri"/>
              </a:defRPr>
            </a:pPr>
            <a:r>
              <a:t>JARS ODE System  |  Provided by Dr. Leah Shaw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2468880" cy="1645920"/>
          </a:xfrm>
          <a:prstGeom prst="round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630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D1B2A"/>
                </a:solidFill>
                <a:latin typeface="Calibri"/>
              </a:defRPr>
            </a:pPr>
            <a:r>
              <a:t>J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24242"/>
                </a:solidFill>
                <a:latin typeface="Calibri"/>
              </a:defRPr>
            </a:pPr>
            <a:r>
              <a:t>Juveniles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33172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757575"/>
                </a:solidFill>
                <a:latin typeface="Calibri"/>
              </a:defRPr>
            </a:pPr>
            <a:r>
              <a:t>Newly settled</a:t>
            </a:r>
            <a:br/>
            <a:r>
              <a:t>larvae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1371600"/>
            <a:ext cx="2468880" cy="1645920"/>
          </a:xfrm>
          <a:prstGeom prst="round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40" y="14630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D1B2A"/>
                </a:solidFill>
                <a:latin typeface="Calibri"/>
              </a:defRPr>
            </a:pPr>
            <a: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40" y="20116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24242"/>
                </a:solidFill>
                <a:latin typeface="Calibri"/>
              </a:defRPr>
            </a:pPr>
            <a:r>
              <a:t>Adults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40" y="233172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757575"/>
                </a:solidFill>
                <a:latin typeface="Calibri"/>
              </a:defRPr>
            </a:pPr>
            <a:r>
              <a:t>Biomass</a:t>
            </a:r>
            <a:br/>
            <a:r>
              <a:t>(our objective)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1371600"/>
            <a:ext cx="2468880" cy="1645920"/>
          </a:xfrm>
          <a:prstGeom prst="round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14630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D1B2A"/>
                </a:solidFill>
                <a:latin typeface="Calibri"/>
              </a:defRPr>
            </a:pPr>
            <a:r>
              <a:t>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0116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24242"/>
                </a:solidFill>
                <a:latin typeface="Calibri"/>
              </a:defRPr>
            </a:pPr>
            <a:r>
              <a:t>Reef / Shell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33172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757575"/>
                </a:solidFill>
                <a:latin typeface="Calibri"/>
              </a:defRPr>
            </a:pPr>
            <a:r>
              <a:t>Habitat</a:t>
            </a:r>
            <a:br/>
            <a:r>
              <a:t>structure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5440" y="1371600"/>
            <a:ext cx="2468880" cy="1645920"/>
          </a:xfrm>
          <a:prstGeom prst="roundRect">
            <a:avLst/>
          </a:prstGeom>
          <a:solidFill>
            <a:srgbClr val="F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0" y="14630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D1B2A"/>
                </a:solidFill>
                <a:latin typeface="Calibri"/>
              </a:defRPr>
            </a:pPr>
            <a:r>
              <a:t>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0116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24242"/>
                </a:solidFill>
                <a:latin typeface="Calibri"/>
              </a:defRPr>
            </a:pPr>
            <a:r>
              <a:t>Sediment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0" y="233172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757575"/>
                </a:solidFill>
                <a:latin typeface="Calibri"/>
              </a:defRPr>
            </a:pPr>
            <a:r>
              <a:t>Smothering</a:t>
            </a:r>
            <a:br/>
            <a:r>
              <a:t>factor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3383280"/>
            <a:ext cx="512064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520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D1B2A"/>
                </a:solidFill>
                <a:latin typeface="Calibri"/>
              </a:defRPr>
            </a:pPr>
            <a:r>
              <a:t>How Sites Interact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3977639"/>
            <a:ext cx="4572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0">
                <a:solidFill>
                  <a:srgbClr val="424242"/>
                </a:solidFill>
                <a:latin typeface="Calibri"/>
              </a:defRPr>
            </a:pPr>
            <a:r>
              <a:t>Larval input = (P0 + P1' |A|^1.72) * L * f</a:t>
            </a:r>
          </a:p>
          <a:p>
            <a:pPr>
              <a:spcAft>
                <a:spcPts val="400"/>
              </a:spcAft>
              <a:defRPr sz="1300" b="0">
                <a:solidFill>
                  <a:srgbClr val="424242"/>
                </a:solidFill>
                <a:latin typeface="Calibri"/>
              </a:defRPr>
            </a:pPr>
            <a:r>
              <a:t>P0 = external larvae (from outside the network)</a:t>
            </a:r>
          </a:p>
          <a:p>
            <a:pPr>
              <a:spcAft>
                <a:spcPts val="400"/>
              </a:spcAft>
              <a:defRPr sz="1300" b="0">
                <a:solidFill>
                  <a:srgbClr val="424242"/>
                </a:solidFill>
                <a:latin typeface="Calibri"/>
              </a:defRPr>
            </a:pPr>
            <a:r>
              <a:t>P1 = internal connectivity matrix (56 x 56)</a:t>
            </a:r>
          </a:p>
          <a:p>
            <a:pPr>
              <a:spcAft>
                <a:spcPts val="400"/>
              </a:spcAft>
              <a:defRPr sz="1300" b="0">
                <a:solidFill>
                  <a:srgbClr val="424242"/>
                </a:solidFill>
                <a:latin typeface="Calibri"/>
              </a:defRPr>
            </a:pPr>
            <a:r>
              <a:t>|A|^1.72 = nonlinear adult biomass scaling</a:t>
            </a:r>
          </a:p>
          <a:p>
            <a:pPr>
              <a:spcAft>
                <a:spcPts val="400"/>
              </a:spcAft>
              <a:defRPr sz="1300" b="0">
                <a:solidFill>
                  <a:srgbClr val="424242"/>
                </a:solidFill>
                <a:latin typeface="Calibri"/>
              </a:defRPr>
            </a:pPr>
            <a:r>
              <a:t>L, f = habitat quality and survival functions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3383280"/>
            <a:ext cx="521208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3520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D1B2A"/>
                </a:solidFill>
                <a:latin typeface="Calibri"/>
              </a:defRPr>
            </a:pPr>
            <a:r>
              <a:t>Computational Cost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3977639"/>
            <a:ext cx="4572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0">
                <a:solidFill>
                  <a:srgbClr val="424242"/>
                </a:solidFill>
                <a:latin typeface="Calibri"/>
              </a:defRPr>
            </a:pPr>
            <a:r>
              <a:t>Each evaluation = solve 4N-dim ODE to t=1000</a:t>
            </a:r>
          </a:p>
          <a:p>
            <a:pPr>
              <a:spcAft>
                <a:spcPts val="400"/>
              </a:spcAft>
              <a:defRPr sz="1300" b="0">
                <a:solidFill>
                  <a:srgbClr val="424242"/>
                </a:solidFill>
                <a:latin typeface="Calibri"/>
              </a:defRPr>
            </a:pPr>
            <a:r>
              <a:t>N = number of sites in the subset (up to 48)</a:t>
            </a:r>
          </a:p>
          <a:p>
            <a:pPr>
              <a:spcAft>
                <a:spcPts val="400"/>
              </a:spcAft>
              <a:defRPr sz="1300" b="0">
                <a:solidFill>
                  <a:srgbClr val="424242"/>
                </a:solidFill>
                <a:latin typeface="Calibri"/>
              </a:defRPr>
            </a:pPr>
            <a:r>
              <a:t>One ODE solve takes ~0.1-0.2 seconds</a:t>
            </a:r>
          </a:p>
          <a:p>
            <a:pPr>
              <a:spcAft>
                <a:spcPts val="400"/>
              </a:spcAft>
              <a:defRPr sz="1300" b="0">
                <a:solidFill>
                  <a:srgbClr val="424242"/>
                </a:solidFill>
                <a:latin typeface="Calibri"/>
              </a:defRPr>
            </a:pPr>
            <a:r>
              <a:t>Greedy needs ~900 evaluations</a:t>
            </a:r>
          </a:p>
          <a:p>
            <a:pPr>
              <a:spcAft>
                <a:spcPts val="400"/>
              </a:spcAft>
              <a:defRPr sz="1300" b="1">
                <a:solidFill>
                  <a:srgbClr val="424242"/>
                </a:solidFill>
                <a:latin typeface="Calibri"/>
              </a:defRPr>
            </a:pPr>
            <a:r>
              <a:t>Need smart methods, not just brute force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D1B2A"/>
                </a:solidFill>
                <a:latin typeface="Calibri Light"/>
              </a:defRPr>
            </a:pPr>
            <a:r>
              <a:t>Larval Connectivity Network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68680"/>
            <a:ext cx="1645920" cy="3810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8_connectivity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400800" cy="51206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132320" y="1371600"/>
            <a:ext cx="4389120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0" y="150876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D1B2A"/>
                </a:solidFill>
                <a:latin typeface="Calibri"/>
              </a:defRPr>
            </a:pPr>
            <a:r>
              <a:t>What This Shows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1965960"/>
            <a:ext cx="38404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0">
                <a:solidFill>
                  <a:srgbClr val="424242"/>
                </a:solidFill>
                <a:latin typeface="Calibri"/>
              </a:defRPr>
            </a:pPr>
            <a:r>
              <a:t>56-site connectivity matrix from</a:t>
            </a:r>
            <a:br/>
            <a:r>
              <a:t>oceanographic larval transport modeling</a:t>
            </a:r>
          </a:p>
          <a:p>
            <a:pPr>
              <a:spcAft>
                <a:spcPts val="1000"/>
              </a:spcAft>
              <a:defRPr sz="1300" b="0">
                <a:solidFill>
                  <a:srgbClr val="424242"/>
                </a:solidFill>
                <a:latin typeface="Calibri"/>
              </a:defRPr>
            </a:pPr>
            <a:r>
              <a:t>Hot cells = strong larval flow</a:t>
            </a:r>
            <a:br/>
            <a:r>
              <a:t>between source and destination reefs</a:t>
            </a:r>
          </a:p>
          <a:p>
            <a:pPr>
              <a:spcAft>
                <a:spcPts val="1000"/>
              </a:spcAft>
              <a:defRPr sz="1300" b="0">
                <a:solidFill>
                  <a:srgbClr val="424242"/>
                </a:solidFill>
                <a:latin typeface="Calibri"/>
              </a:defRPr>
            </a:pPr>
            <a:r>
              <a:t>Visible clustering: sites 10, 27-29,</a:t>
            </a:r>
            <a:br/>
            <a:r>
              <a:t>31-32, 40-41 form a connected hub</a:t>
            </a:r>
          </a:p>
          <a:p>
            <a:pPr>
              <a:spcAft>
                <a:spcPts val="1000"/>
              </a:spcAft>
              <a:defRPr sz="1300" b="0">
                <a:solidFill>
                  <a:srgbClr val="424242"/>
                </a:solidFill>
                <a:latin typeface="Calibri"/>
              </a:defRPr>
            </a:pPr>
            <a:r>
              <a:t>Off-diagonal structure reveals</a:t>
            </a:r>
            <a:br/>
            <a:r>
              <a:t>long-range larval pathways</a:t>
            </a:r>
          </a:p>
          <a:p>
            <a:pPr>
              <a:spcAft>
                <a:spcPts val="1000"/>
              </a:spcAft>
              <a:defRPr sz="1300" b="1">
                <a:solidFill>
                  <a:srgbClr val="424242"/>
                </a:solidFill>
                <a:latin typeface="Calibri"/>
              </a:defRPr>
            </a:pPr>
            <a:r>
              <a:t>This network structure drives which</a:t>
            </a:r>
            <a:br/>
            <a:r>
              <a:t>sites are most valuable to restore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D1B2A"/>
                </a:solidFill>
                <a:latin typeface="Calibri Light"/>
              </a:defRPr>
            </a:pPr>
            <a:r>
              <a:t>My Contribution: Three Solution Approaches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68680"/>
            <a:ext cx="1645920" cy="3810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33832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280160"/>
            <a:ext cx="3383280" cy="50292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298448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Heuristic 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920240"/>
            <a:ext cx="2926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424242"/>
                </a:solidFill>
                <a:latin typeface="Calibri"/>
              </a:defRPr>
            </a:pPr>
            <a:r>
              <a:t>Uses full ODE model</a:t>
            </a:r>
          </a:p>
          <a:p>
            <a:pPr>
              <a:spcAft>
                <a:spcPts val="400"/>
              </a:spcAft>
              <a:defRPr sz="1200" b="1">
                <a:solidFill>
                  <a:srgbClr val="424242"/>
                </a:solidFill>
                <a:latin typeface="Calibri"/>
              </a:defRPr>
            </a:pPr>
            <a:r>
              <a:t>Forward Greedy</a:t>
            </a:r>
          </a:p>
          <a:p>
            <a:pPr lvl="1">
              <a:spcAft>
                <a:spcPts val="400"/>
              </a:spcAft>
              <a:defRPr sz="1200" b="0">
                <a:solidFill>
                  <a:srgbClr val="424242"/>
                </a:solidFill>
                <a:latin typeface="Calibri"/>
              </a:defRPr>
            </a:pPr>
            <a:r>
              <a:t>Add best site one at a time</a:t>
            </a:r>
            <a:br/>
            <a:r>
              <a:t>across 25 rounds</a:t>
            </a:r>
          </a:p>
          <a:p>
            <a:pPr>
              <a:spcAft>
                <a:spcPts val="400"/>
              </a:spcAft>
              <a:defRPr sz="1200" b="1">
                <a:solidFill>
                  <a:srgbClr val="424242"/>
                </a:solidFill>
                <a:latin typeface="Calibri"/>
              </a:defRPr>
            </a:pPr>
            <a:r>
              <a:t>Backward Elimination</a:t>
            </a:r>
          </a:p>
          <a:p>
            <a:pPr lvl="1">
              <a:spcAft>
                <a:spcPts val="400"/>
              </a:spcAft>
              <a:defRPr sz="1200" b="0">
                <a:solidFill>
                  <a:srgbClr val="424242"/>
                </a:solidFill>
                <a:latin typeface="Calibri"/>
              </a:defRPr>
            </a:pPr>
            <a:r>
              <a:t>Start with all 48 sites,</a:t>
            </a:r>
            <a:br/>
            <a:r>
              <a:t>remove least impactful</a:t>
            </a:r>
          </a:p>
          <a:p>
            <a:pPr>
              <a:spcAft>
                <a:spcPts val="400"/>
              </a:spcAft>
              <a:defRPr sz="1200" b="1">
                <a:solidFill>
                  <a:srgbClr val="424242"/>
                </a:solidFill>
                <a:latin typeface="Calibri"/>
              </a:defRPr>
            </a:pPr>
            <a:r>
              <a:t>Local Search (1-swap)</a:t>
            </a:r>
          </a:p>
          <a:p>
            <a:pPr lvl="1">
              <a:spcAft>
                <a:spcPts val="400"/>
              </a:spcAft>
              <a:defRPr sz="1200" b="0">
                <a:solidFill>
                  <a:srgbClr val="424242"/>
                </a:solidFill>
                <a:latin typeface="Calibri"/>
              </a:defRPr>
            </a:pPr>
            <a:r>
              <a:t>Refine by swapping sites</a:t>
            </a:r>
            <a:br/>
            <a:r>
              <a:t>in and out of the set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280160"/>
            <a:ext cx="33832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6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120" y="1280160"/>
            <a:ext cx="3383280" cy="502920"/>
          </a:xfrm>
          <a:prstGeom prst="rect">
            <a:avLst/>
          </a:prstGeom>
          <a:solidFill>
            <a:srgbClr val="FF6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1298448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MIQP Surrogate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1920240"/>
            <a:ext cx="2926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424242"/>
                </a:solidFill>
                <a:latin typeface="Calibri"/>
              </a:defRPr>
            </a:pPr>
            <a:r>
              <a:t>Key innovation</a:t>
            </a:r>
          </a:p>
          <a:p>
            <a:pPr>
              <a:spcAft>
                <a:spcPts val="400"/>
              </a:spcAft>
              <a:defRPr sz="1200" b="1">
                <a:solidFill>
                  <a:srgbClr val="424242"/>
                </a:solidFill>
                <a:latin typeface="Calibri"/>
              </a:defRPr>
            </a:pPr>
            <a:r>
              <a:t>Quadratic Objective</a:t>
            </a:r>
          </a:p>
          <a:p>
            <a:pPr lvl="1">
              <a:spcAft>
                <a:spcPts val="400"/>
              </a:spcAft>
              <a:defRPr sz="1200" b="0">
                <a:solidFill>
                  <a:srgbClr val="424242"/>
                </a:solidFill>
                <a:latin typeface="Calibri"/>
              </a:defRPr>
            </a:pPr>
            <a:r>
              <a:t>max  sum Pe_i x_i</a:t>
            </a:r>
            <a:br/>
            <a:r>
              <a:t>   + sum W_ij x_i x_j</a:t>
            </a:r>
          </a:p>
          <a:p>
            <a:pPr>
              <a:spcAft>
                <a:spcPts val="400"/>
              </a:spcAft>
              <a:defRPr sz="1200" b="1">
                <a:solidFill>
                  <a:srgbClr val="424242"/>
                </a:solidFill>
                <a:latin typeface="Calibri"/>
              </a:defRPr>
            </a:pPr>
            <a:r>
              <a:t>Surrogate Weights</a:t>
            </a:r>
          </a:p>
          <a:p>
            <a:pPr lvl="1">
              <a:spcAft>
                <a:spcPts val="400"/>
              </a:spcAft>
              <a:defRPr sz="1200" b="0">
                <a:solidFill>
                  <a:srgbClr val="424242"/>
                </a:solidFill>
                <a:latin typeface="Calibri"/>
              </a:defRPr>
            </a:pPr>
            <a:r>
              <a:t>W_ij = P1_ij * (A*)^1.72</a:t>
            </a:r>
            <a:br/>
            <a:r>
              <a:t>approx. network effect</a:t>
            </a:r>
          </a:p>
          <a:p>
            <a:pPr>
              <a:spcAft>
                <a:spcPts val="400"/>
              </a:spcAft>
              <a:defRPr sz="1200" b="1">
                <a:solidFill>
                  <a:srgbClr val="424242"/>
                </a:solidFill>
                <a:latin typeface="Calibri"/>
              </a:defRPr>
            </a:pPr>
            <a:r>
              <a:t>Exact Solution</a:t>
            </a:r>
          </a:p>
          <a:p>
            <a:pPr lvl="1">
              <a:spcAft>
                <a:spcPts val="400"/>
              </a:spcAft>
              <a:defRPr sz="1200" b="0">
                <a:solidFill>
                  <a:srgbClr val="424242"/>
                </a:solidFill>
                <a:latin typeface="Calibri"/>
              </a:defRPr>
            </a:pPr>
            <a:r>
              <a:t>Gurobi solver: provably</a:t>
            </a:r>
            <a:br/>
            <a:r>
              <a:t>optimal in 0.32 seconds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280160"/>
            <a:ext cx="33832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280160"/>
            <a:ext cx="3383280" cy="5029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0" y="1298448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Constrained MIQP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1920240"/>
            <a:ext cx="2926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424242"/>
                </a:solidFill>
                <a:latin typeface="Calibri"/>
              </a:defRPr>
            </a:pPr>
            <a:r>
              <a:t>Real-world extensions</a:t>
            </a:r>
          </a:p>
          <a:p>
            <a:pPr>
              <a:spcAft>
                <a:spcPts val="400"/>
              </a:spcAft>
              <a:defRPr sz="1200" b="1">
                <a:solidFill>
                  <a:srgbClr val="424242"/>
                </a:solidFill>
                <a:latin typeface="Calibri"/>
              </a:defRPr>
            </a:pPr>
            <a:r>
              <a:t>Community Constraints</a:t>
            </a:r>
          </a:p>
          <a:p>
            <a:pPr lvl="1">
              <a:spcAft>
                <a:spcPts val="400"/>
              </a:spcAft>
              <a:defRPr sz="1200" b="0">
                <a:solidFill>
                  <a:srgbClr val="424242"/>
                </a:solidFill>
                <a:latin typeface="Calibri"/>
              </a:defRPr>
            </a:pPr>
            <a:r>
              <a:t>Minimum reefs per</a:t>
            </a:r>
            <a:br/>
            <a:r>
              <a:t>geographic region for fairness</a:t>
            </a:r>
          </a:p>
          <a:p>
            <a:pPr>
              <a:spcAft>
                <a:spcPts val="400"/>
              </a:spcAft>
              <a:defRPr sz="1200" b="1">
                <a:solidFill>
                  <a:srgbClr val="424242"/>
                </a:solidFill>
                <a:latin typeface="Calibri"/>
              </a:defRPr>
            </a:pPr>
            <a:r>
              <a:t>Reef Sizing</a:t>
            </a:r>
          </a:p>
          <a:p>
            <a:pPr lvl="1">
              <a:spcAft>
                <a:spcPts val="400"/>
              </a:spcAft>
              <a:defRPr sz="1200" b="0">
                <a:solidFill>
                  <a:srgbClr val="424242"/>
                </a:solidFill>
                <a:latin typeface="Calibri"/>
              </a:defRPr>
            </a:pPr>
            <a:r>
              <a:t>Optimize area allocation</a:t>
            </a:r>
            <a:br/>
            <a:r>
              <a:t>per site under total budget</a:t>
            </a:r>
          </a:p>
          <a:p>
            <a:pPr>
              <a:spcAft>
                <a:spcPts val="400"/>
              </a:spcAft>
              <a:defRPr sz="1200" b="1">
                <a:solidFill>
                  <a:srgbClr val="424242"/>
                </a:solidFill>
                <a:latin typeface="Calibri"/>
              </a:defRPr>
            </a:pPr>
            <a:r>
              <a:t>Combined Model</a:t>
            </a:r>
          </a:p>
          <a:p>
            <a:pPr lvl="1">
              <a:spcAft>
                <a:spcPts val="400"/>
              </a:spcAft>
              <a:defRPr sz="1200" b="0">
                <a:solidFill>
                  <a:srgbClr val="424242"/>
                </a:solidFill>
                <a:latin typeface="Calibri"/>
              </a:defRPr>
            </a:pPr>
            <a:r>
              <a:t>Communities + sizing</a:t>
            </a:r>
            <a:br/>
            <a:r>
              <a:t>in a single formulation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D1B2A"/>
                </a:solidFill>
                <a:latin typeface="Calibri Light"/>
              </a:defRPr>
            </a:pPr>
            <a:r>
              <a:t>Greedy Selection: Marginal Returns Curve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68680"/>
            <a:ext cx="1645920" cy="3810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7_greedy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3447" y="1097280"/>
            <a:ext cx="7924800" cy="47548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0350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57575"/>
                </a:solidFill>
                <a:latin typeface="Calibri"/>
              </a:defRPr>
            </a:pPr>
            <a:r>
              <a:t>Each site adds biomass, with a jump at sites 17-18 (hub sites 40, 41). Greedy+Local ultimately achieves the best ODE-validated score of 1.862.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D1B2A"/>
                </a:solidFill>
                <a:latin typeface="Calibri Light"/>
              </a:defRPr>
            </a:pPr>
            <a:r>
              <a:t>ODE-Validated Performance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68680"/>
            <a:ext cx="1645920" cy="3810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1_scor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5847" y="1097280"/>
            <a:ext cx="76200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9436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57575"/>
                </a:solidFill>
                <a:latin typeface="Calibri"/>
              </a:defRPr>
            </a:pPr>
            <a:r>
              <a:t>All solutions validated through the full nonlinear JARS ODE (tmax=1000, realistic P0). Greedy+Local achieves highest biomass. MIQP is 8% behind but solves 6,000x faster.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D1B2A"/>
                </a:solidFill>
                <a:latin typeface="Calibri Light"/>
              </a:defRPr>
            </a:pPr>
            <a:r>
              <a:t>Computational Time: Speed vs Quality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68680"/>
            <a:ext cx="1645920" cy="3810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9_tim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400800" cy="40005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132320" y="1371600"/>
            <a:ext cx="438912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0" y="150876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D1B2A"/>
                </a:solidFill>
                <a:latin typeface="Calibri"/>
              </a:defRPr>
            </a:pPr>
            <a:r>
              <a:t>The Trade-off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1965960"/>
            <a:ext cx="3840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424242"/>
                </a:solidFill>
                <a:latin typeface="Calibri"/>
              </a:defRPr>
            </a:pPr>
            <a:r>
              <a:t>Greedy+Local: 32 min, best score</a:t>
            </a:r>
          </a:p>
          <a:p>
            <a:pPr>
              <a:spcAft>
                <a:spcPts val="600"/>
              </a:spcAft>
              <a:defRPr sz="1300" b="0">
                <a:solidFill>
                  <a:srgbClr val="424242"/>
                </a:solidFill>
                <a:latin typeface="Calibri"/>
              </a:defRPr>
            </a:pPr>
            <a:r>
              <a:t>Backward: 4.7 min, 2.3% gap</a:t>
            </a:r>
          </a:p>
          <a:p>
            <a:pPr>
              <a:spcAft>
                <a:spcPts val="600"/>
              </a:spcAft>
              <a:defRPr sz="1300" b="0">
                <a:solidFill>
                  <a:srgbClr val="424242"/>
                </a:solidFill>
                <a:latin typeface="Calibri"/>
              </a:defRPr>
            </a:pPr>
            <a:r>
              <a:t>MIQP: 0.32 sec, 8% gap</a:t>
            </a:r>
          </a:p>
          <a:p>
            <a:pPr>
              <a:spcAft>
                <a:spcPts val="600"/>
              </a:spcAft>
              <a:defRPr sz="1300" b="1">
                <a:solidFill>
                  <a:srgbClr val="424242"/>
                </a:solidFill>
                <a:latin typeface="Calibri"/>
              </a:defRPr>
            </a:pPr>
            <a:r>
              <a:t>MIQP is 6,000x faster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0" y="3657600"/>
            <a:ext cx="4389120" cy="2103120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0" y="379476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D1B2A"/>
                </a:solidFill>
                <a:latin typeface="Calibri"/>
              </a:defRPr>
            </a:pPr>
            <a:r>
              <a:t>Why MIQP Matters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4251960"/>
            <a:ext cx="3840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0">
                <a:solidFill>
                  <a:srgbClr val="424242"/>
                </a:solidFill>
                <a:latin typeface="Calibri"/>
              </a:defRPr>
            </a:pPr>
            <a:r>
              <a:t>Enables rapid what-if analysis</a:t>
            </a:r>
          </a:p>
          <a:p>
            <a:pPr>
              <a:spcAft>
                <a:spcPts val="600"/>
              </a:spcAft>
              <a:defRPr sz="1300" b="0">
                <a:solidFill>
                  <a:srgbClr val="424242"/>
                </a:solidFill>
                <a:latin typeface="Calibri"/>
              </a:defRPr>
            </a:pPr>
            <a:r>
              <a:t>Test 100s of constraint scenarios</a:t>
            </a:r>
          </a:p>
          <a:p>
            <a:pPr>
              <a:spcAft>
                <a:spcPts val="600"/>
              </a:spcAft>
              <a:defRPr sz="1300" b="0">
                <a:solidFill>
                  <a:srgbClr val="424242"/>
                </a:solidFill>
                <a:latin typeface="Calibri"/>
              </a:defRPr>
            </a:pPr>
            <a:r>
              <a:t>Interactive decision support</a:t>
            </a:r>
          </a:p>
          <a:p>
            <a:pPr>
              <a:spcAft>
                <a:spcPts val="600"/>
              </a:spcAft>
              <a:defRPr sz="1300" b="1">
                <a:solidFill>
                  <a:srgbClr val="424242"/>
                </a:solidFill>
                <a:latin typeface="Calibri"/>
              </a:defRPr>
            </a:pPr>
            <a:r>
              <a:t>Provably optimal (under surrogate)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D1B2A"/>
                </a:solidFill>
                <a:latin typeface="Calibri Light"/>
              </a:defRPr>
            </a:pPr>
            <a:r>
              <a:t>Optimality Gap Analysis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68680"/>
            <a:ext cx="1645920" cy="3810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10_optimality_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5847" y="1097280"/>
            <a:ext cx="76200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9436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757575"/>
                </a:solidFill>
                <a:latin typeface="Calibri"/>
              </a:defRPr>
            </a:pPr>
            <a:r>
              <a:t>The 8% MIQP gap reflects the surrogate approximation error, not the solver. Community constraints cost ~26% biomass - quantifying the price of geographic fairness.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D1B2A"/>
                </a:solidFill>
                <a:latin typeface="Calibri Light"/>
              </a:defRPr>
            </a:pPr>
            <a:r>
              <a:t>Method Agreement: Which Sites Overlap?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68680"/>
            <a:ext cx="1645920" cy="3810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2_site_overlap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5943600" cy="520065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858000" y="1371600"/>
            <a:ext cx="47548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0" y="150876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D1B2A"/>
                </a:solidFill>
                <a:latin typeface="Calibri"/>
              </a:defRPr>
            </a:pPr>
            <a:r>
              <a:t>Reading the Heatmap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2011680"/>
            <a:ext cx="4206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424242"/>
                </a:solidFill>
                <a:latin typeface="Calibri"/>
              </a:defRPr>
            </a:pPr>
            <a:r>
              <a:t>Jaccard = |intersection| / |union|</a:t>
            </a:r>
          </a:p>
          <a:p>
            <a:pPr>
              <a:spcAft>
                <a:spcPts val="1000"/>
              </a:spcAft>
              <a:defRPr sz="1300" b="0">
                <a:solidFill>
                  <a:srgbClr val="424242"/>
                </a:solidFill>
                <a:latin typeface="Calibri"/>
              </a:defRPr>
            </a:pPr>
            <a:r>
              <a:t>MIQP variants agree strongly</a:t>
            </a:r>
            <a:br/>
            <a:r>
              <a:t>with each other (J = 0.72)</a:t>
            </a:r>
          </a:p>
          <a:p>
            <a:pPr>
              <a:spcAft>
                <a:spcPts val="1000"/>
              </a:spcAft>
              <a:defRPr sz="1300" b="0">
                <a:solidFill>
                  <a:srgbClr val="424242"/>
                </a:solidFill>
                <a:latin typeface="Calibri"/>
              </a:defRPr>
            </a:pPr>
            <a:r>
              <a:t>Backward and MIQP are quite</a:t>
            </a:r>
            <a:br/>
            <a:r>
              <a:t>similar (J = 0.72) - they rank</a:t>
            </a:r>
            <a:br/>
            <a:r>
              <a:t>site importance similarly</a:t>
            </a:r>
          </a:p>
          <a:p>
            <a:pPr>
              <a:spcAft>
                <a:spcPts val="1000"/>
              </a:spcAft>
              <a:defRPr sz="1300" b="0">
                <a:solidFill>
                  <a:srgbClr val="424242"/>
                </a:solidFill>
                <a:latin typeface="Calibri"/>
              </a:defRPr>
            </a:pPr>
            <a:r>
              <a:t>Greedy+Local is most distinct</a:t>
            </a:r>
            <a:br/>
            <a:r>
              <a:t>(J = 0.35-0.56) due to local</a:t>
            </a:r>
            <a:br/>
            <a:r>
              <a:t>search swaps</a:t>
            </a:r>
          </a:p>
          <a:p>
            <a:pPr>
              <a:spcAft>
                <a:spcPts val="1000"/>
              </a:spcAft>
              <a:defRPr sz="1300" b="1">
                <a:solidFill>
                  <a:srgbClr val="424242"/>
                </a:solidFill>
                <a:latin typeface="Calibri"/>
              </a:defRPr>
            </a:pPr>
            <a:r>
              <a:t>Despite different selections, all</a:t>
            </a:r>
            <a:br/>
            <a:r>
              <a:t>methods share a consensus core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D1B2A"/>
                </a:solidFill>
                <a:latin typeface="Calibri Light"/>
              </a:defRPr>
            </a:pPr>
            <a:r>
              <a:t>Consensus Core: High-Confidence Restoration Targets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68680"/>
            <a:ext cx="1645920" cy="3810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4_consensus_si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7271" y="1097280"/>
            <a:ext cx="9217152" cy="32918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4663440"/>
            <a:ext cx="3383280" cy="182880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7D32"/>
                </a:solidFill>
                <a:latin typeface="Calibri"/>
              </a:defRPr>
            </a:pPr>
            <a:r>
              <a:t>All 5 Methods (10 sites)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074920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0"/>
              </a:lnSpc>
              <a:defRPr sz="1200" b="0">
                <a:solidFill>
                  <a:srgbClr val="424242"/>
                </a:solidFill>
                <a:latin typeface="Calibri"/>
              </a:defRPr>
            </a:pPr>
            <a:r>
              <a:t>10, 15, 31, 32, 37, 40, 41,</a:t>
            </a:r>
            <a:br/>
            <a:r>
              <a:t>49, 51, 52, 53</a:t>
            </a:r>
            <a:br/>
            <a:br/>
            <a:r>
              <a:t>Highest-confidence targets</a:t>
            </a:r>
            <a:br/>
            <a:r>
              <a:t>regardless of methodology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4663440"/>
            <a:ext cx="3383280" cy="1828800"/>
          </a:xfrm>
          <a:prstGeom prst="roundRect">
            <a:avLst/>
          </a:prstGeom>
          <a:solidFill>
            <a:srgbClr val="FFF8E1"/>
          </a:solidFill>
          <a:ln w="12700">
            <a:solidFill>
              <a:srgbClr val="FFC1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475488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7F17"/>
                </a:solidFill>
                <a:latin typeface="Calibri"/>
              </a:defRPr>
            </a:pPr>
            <a:r>
              <a:t>4/5 Methods (7 sites)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5074920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0"/>
              </a:lnSpc>
              <a:defRPr sz="1200" b="0">
                <a:solidFill>
                  <a:srgbClr val="424242"/>
                </a:solidFill>
                <a:latin typeface="Calibri"/>
              </a:defRPr>
            </a:pPr>
            <a:r>
              <a:t>16, 17, 21, 27, 33, 36, 47, 59</a:t>
            </a:r>
            <a:br/>
            <a:br/>
            <a:r>
              <a:t>Strong candidates with</a:t>
            </a:r>
            <a:br/>
            <a:r>
              <a:t>broad algorithmic support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4663440"/>
            <a:ext cx="3383280" cy="1828800"/>
          </a:xfrm>
          <a:prstGeom prst="roundRect">
            <a:avLst/>
          </a:prstGeom>
          <a:solidFill>
            <a:srgbClr val="FCE4EC"/>
          </a:solidFill>
          <a:ln w="12700">
            <a:solidFill>
              <a:srgbClr val="E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475488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62828"/>
                </a:solidFill>
                <a:latin typeface="Calibri"/>
              </a:defRPr>
            </a:pPr>
            <a:r>
              <a:t>1-2 Methods (8 sites)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5074920"/>
            <a:ext cx="3017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0"/>
              </a:lnSpc>
              <a:defRPr sz="1200" b="0">
                <a:solidFill>
                  <a:srgbClr val="424242"/>
                </a:solidFill>
                <a:latin typeface="Calibri"/>
              </a:defRPr>
            </a:pPr>
            <a:r>
              <a:t>4, 6, 11, 19, 24, 30, 38, etc.</a:t>
            </a:r>
            <a:br/>
            <a:br/>
            <a:r>
              <a:t>Contested sites where</a:t>
            </a:r>
            <a:br/>
            <a:r>
              <a:t>methodology choice matters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D1B2A"/>
                </a:solidFill>
                <a:latin typeface="Calibri Light"/>
              </a:defRPr>
            </a:pPr>
            <a:r>
              <a:t>Network Analysis: Why Are These Sites Selected?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68680"/>
            <a:ext cx="1645920" cy="3810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5_network_centr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1097280"/>
            <a:ext cx="10515600" cy="339500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5029200"/>
            <a:ext cx="10698480" cy="1463040"/>
          </a:xfrm>
          <a:prstGeom prst="roundRect">
            <a:avLst/>
          </a:prstGeom>
          <a:solidFill>
            <a:srgbClr val="E3F2FD"/>
          </a:solidFill>
          <a:ln w="1270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51206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D1B2A"/>
                </a:solidFill>
                <a:latin typeface="Calibri"/>
              </a:defRPr>
            </a:pPr>
            <a:r>
              <a:t>Key Insight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440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00"/>
              </a:lnSpc>
              <a:defRPr sz="1400" b="0">
                <a:solidFill>
                  <a:srgbClr val="424242"/>
                </a:solidFill>
                <a:latin typeface="Calibri"/>
              </a:defRPr>
            </a:pPr>
            <a:r>
              <a:t>MIQP-selected sites (blue) dominate all network centrality metrics - they are the hubs that receive and export the most larvae. The optimization naturally discovers network-central sites. Top hubs (sites 10, 31, 32, 40, 41) are consensus picks across every method tested.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D1B2A"/>
                </a:solidFill>
                <a:latin typeface="Calibri Light"/>
              </a:defRPr>
            </a:pPr>
            <a:r>
              <a:t>MIQP Extension: Optimal Reef Size Allocation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68680"/>
            <a:ext cx="1645920" cy="3810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6_reef_siz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1097280"/>
            <a:ext cx="10515600" cy="375557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30352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000"/>
              </a:lnSpc>
              <a:defRPr sz="1300" b="0">
                <a:solidFill>
                  <a:srgbClr val="757575"/>
                </a:solidFill>
                <a:latin typeface="Calibri"/>
              </a:defRPr>
            </a:pPr>
            <a:r>
              <a:t>The MIQP framework naturally extends to variable reef sizing under a total area budget. Network hubs get maximum allocation (50 units). Peripheral sites get minimal allocation - included for connectivity value, not local productivity. Community constraints force inclusion of smaller sites (42, 47, 48) at minimum size.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D1B2A"/>
                </a:solidFill>
                <a:latin typeface="Calibri Light"/>
              </a:defRPr>
            </a:pPr>
            <a:r>
              <a:t>Complete Site Selection Matrix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68680"/>
            <a:ext cx="1645920" cy="3810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3_site_select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188720"/>
            <a:ext cx="10972800" cy="3429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2120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000"/>
              </a:lnSpc>
              <a:defRPr sz="1300" b="0">
                <a:solidFill>
                  <a:srgbClr val="757575"/>
                </a:solidFill>
                <a:latin typeface="Calibri"/>
              </a:defRPr>
            </a:pPr>
            <a:r>
              <a:t>Blue = selected. Count row shows consensus level. Dense blue columns (10, 15, 31, 32, 40, 41, 49, 51-53) form the indisputable core. Greedy+Local uniquely selects sites 6, 24, 30, 38, 39, 55, 60.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0D1B2A"/>
                </a:solidFill>
                <a:latin typeface="Calibri Light"/>
              </a:defRPr>
            </a:pPr>
            <a:r>
              <a:t>Summary of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68680"/>
            <a:ext cx="1645920" cy="3810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280160"/>
          <a:ext cx="106984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828800"/>
                <a:gridCol w="1645920"/>
                <a:gridCol w="2011680"/>
                <a:gridCol w="3017520"/>
              </a:tblGrid>
              <a:tr h="42672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anchor="ctr"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ODE Score</a:t>
                      </a:r>
                    </a:p>
                  </a:txBody>
                  <a:tcPr anchor="ctr"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Time</a:t>
                      </a:r>
                    </a:p>
                  </a:txBody>
                  <a:tcPr anchor="ctr"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Overlap w/ Best</a:t>
                      </a:r>
                    </a:p>
                  </a:txBody>
                  <a:tcPr anchor="ctr"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 Trait</a:t>
                      </a:r>
                    </a:p>
                  </a:txBody>
                  <a:tcPr anchor="ctr">
                    <a:solidFill>
                      <a:srgbClr val="0D1B2A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Greedy + Local Search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1.862  (best)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32 min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-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Best true ODE score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Backward Elimination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1.819  (-2.3%)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4.7 min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18 / 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Fast, strong quality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MIQP (plain)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1.713  (-8.0%)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0.32 sec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14 / 25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Near-instant, exact surrogate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MIQP + Communities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1.383  (-25.7%)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&lt; 1 sec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15 / 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Geographic fairness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MIQP + Comm + Sizing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-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&lt; 1 sec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13 / 25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12121"/>
                          </a:solidFill>
                          <a:latin typeface="Calibri"/>
                        </a:defRPr>
                      </a:pPr>
                      <a:r>
                        <a:t>Full policy model</a:t>
                      </a:r>
                    </a:p>
                  </a:txBody>
                  <a:tcPr anchor="ctr">
                    <a:solidFill>
                      <a:srgbClr val="E3F2FD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" y="4114800"/>
            <a:ext cx="1069848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D1B2A"/>
                </a:solidFill>
                <a:latin typeface="Calibri"/>
              </a:defRPr>
            </a:pPr>
            <a:r>
              <a:t>Key Findings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46634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88E5"/>
                </a:solidFill>
                <a:latin typeface="Calibri"/>
              </a:defRPr>
            </a:pPr>
            <a: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46634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24242"/>
                </a:solidFill>
                <a:latin typeface="Calibri"/>
              </a:defRPr>
            </a:pPr>
            <a:r>
              <a:t>Greedy+Local achieves the best ODE biomass but requires 32 minutes of compute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4983479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88E5"/>
                </a:solidFill>
                <a:latin typeface="Calibri"/>
              </a:defRPr>
            </a:pPr>
            <a: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4983479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24242"/>
                </a:solidFill>
                <a:latin typeface="Calibri"/>
              </a:defRPr>
            </a:pPr>
            <a:r>
              <a:t>MIQP solves in 0.3 seconds - provably optimal under the quadratic surrogate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530352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88E5"/>
                </a:solidFill>
                <a:latin typeface="Calibri"/>
              </a:defRPr>
            </a:pPr>
            <a: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530352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24242"/>
                </a:solidFill>
                <a:latin typeface="Calibri"/>
              </a:defRPr>
            </a:pPr>
            <a:r>
              <a:t>The 8% gap between MIQP and Greedy quantifies the surrogate approximation error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623559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88E5"/>
                </a:solidFill>
                <a:latin typeface="Calibri"/>
              </a:defRPr>
            </a:pPr>
            <a:r>
              <a:t>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5623559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24242"/>
                </a:solidFill>
                <a:latin typeface="Calibri"/>
              </a:defRPr>
            </a:pPr>
            <a:r>
              <a:t>All methods agree on a consensus core of 10-11 high-value sites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594360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E88E5"/>
                </a:solidFill>
                <a:latin typeface="Calibri"/>
              </a:defRPr>
            </a:pPr>
            <a:r>
              <a:t>5.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594360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24242"/>
                </a:solidFill>
                <a:latin typeface="Calibri"/>
              </a:defRPr>
            </a:pPr>
            <a:r>
              <a:t>The MIQP framework naturally extends to community fairness and reef sizing constraints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457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 Light"/>
              </a:defRPr>
            </a:pPr>
            <a:r>
              <a:t>Key Takeaways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051560"/>
            <a:ext cx="1828800" cy="3810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371600" y="1371600"/>
            <a:ext cx="9418320" cy="1188720"/>
          </a:xfrm>
          <a:prstGeom prst="roundRect">
            <a:avLst/>
          </a:prstGeom>
          <a:solidFill>
            <a:srgbClr val="1B2A4A"/>
          </a:solidFill>
          <a:ln w="12700">
            <a:solidFill>
              <a:srgbClr val="2A3F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37360" y="146304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BBDEFB"/>
                </a:solidFill>
                <a:latin typeface="Calibri"/>
              </a:defRPr>
            </a:pPr>
            <a:r>
              <a:t>MIQP surrogate = fast, exact benchmark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182880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defRPr sz="1300" b="0">
                <a:solidFill>
                  <a:srgbClr val="B0BEC5"/>
                </a:solidFill>
                <a:latin typeface="Calibri"/>
              </a:defRPr>
            </a:pPr>
            <a:r>
              <a:t>Solves in 0.3 seconds what heuristics need 32 minutes for.</a:t>
            </a:r>
            <a:br/>
            <a:r>
              <a:t>Enables rapid exploration of constraints and scenarios.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2697480"/>
            <a:ext cx="9418320" cy="1188720"/>
          </a:xfrm>
          <a:prstGeom prst="roundRect">
            <a:avLst/>
          </a:prstGeom>
          <a:solidFill>
            <a:srgbClr val="1B2A4A"/>
          </a:solidFill>
          <a:ln w="12700">
            <a:solidFill>
              <a:srgbClr val="2A3F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37360" y="27889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BBDEFB"/>
                </a:solidFill>
                <a:latin typeface="Calibri"/>
              </a:defRPr>
            </a:pPr>
            <a:r>
              <a:t>Heuristics outperform the surrogate on true 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315468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defRPr sz="1300" b="0">
                <a:solidFill>
                  <a:srgbClr val="B0BEC5"/>
                </a:solidFill>
                <a:latin typeface="Calibri"/>
              </a:defRPr>
            </a:pPr>
            <a:r>
              <a:t>Greedy+Local achieves 8% better ODE score than MIQP.</a:t>
            </a:r>
            <a:br/>
            <a:r>
              <a:t>The surrogate approximation is the limiting factor, not the solver.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4023360"/>
            <a:ext cx="9418320" cy="1188720"/>
          </a:xfrm>
          <a:prstGeom prst="roundRect">
            <a:avLst/>
          </a:prstGeom>
          <a:solidFill>
            <a:srgbClr val="1B2A4A"/>
          </a:solidFill>
          <a:ln w="12700">
            <a:solidFill>
              <a:srgbClr val="2A3F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37360" y="4114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BBDEFB"/>
                </a:solidFill>
                <a:latin typeface="Calibri"/>
              </a:defRPr>
            </a:pPr>
            <a:r>
              <a:t>All methods converge on a consensus 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448056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defRPr sz="1300" b="0">
                <a:solidFill>
                  <a:srgbClr val="B0BEC5"/>
                </a:solidFill>
                <a:latin typeface="Calibri"/>
              </a:defRPr>
            </a:pPr>
            <a:r>
              <a:t>Sites 10, 15, 31, 32, 37, 40, 41, 49, 51, 52, 53</a:t>
            </a:r>
            <a:br/>
            <a:r>
              <a:t>are robust picks regardless of methodology. These are network hubs.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5349240"/>
            <a:ext cx="9418320" cy="1188720"/>
          </a:xfrm>
          <a:prstGeom prst="roundRect">
            <a:avLst/>
          </a:prstGeom>
          <a:solidFill>
            <a:srgbClr val="1B2A4A"/>
          </a:solidFill>
          <a:ln w="12700">
            <a:solidFill>
              <a:srgbClr val="2A3F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37360" y="5440679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BBDEFB"/>
                </a:solidFill>
                <a:latin typeface="Calibri"/>
              </a:defRPr>
            </a:pPr>
            <a:r>
              <a:t>MIQP framework is extensible to real policy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580644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defRPr sz="1300" b="0">
                <a:solidFill>
                  <a:srgbClr val="B0BEC5"/>
                </a:solidFill>
                <a:latin typeface="Calibri"/>
              </a:defRPr>
            </a:pPr>
            <a:r>
              <a:t>Community fairness, reef sizing, budget constraints integrate naturally.</a:t>
            </a:r>
            <a:br/>
            <a:r>
              <a:t>Quantifies the cost of policy: geographic fairness costs ~26% biomass.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 Light"/>
              </a:defRPr>
            </a:pPr>
            <a:r>
              <a:t>Future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2011680"/>
            <a:ext cx="1828800" cy="3810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2286000"/>
            <a:ext cx="9144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 b="0">
                <a:solidFill>
                  <a:srgbClr val="B0BEC5"/>
                </a:solidFill>
                <a:latin typeface="Calibri"/>
              </a:defRPr>
            </a:pPr>
            <a:r>
              <a:t>Improve surrogate approximation (per-site A* instead of median)</a:t>
            </a:r>
          </a:p>
          <a:p>
            <a:pPr>
              <a:spcAft>
                <a:spcPts val="1400"/>
              </a:spcAft>
              <a:defRPr sz="1500" b="0">
                <a:solidFill>
                  <a:srgbClr val="B0BEC5"/>
                </a:solidFill>
                <a:latin typeface="Calibri"/>
              </a:defRPr>
            </a:pPr>
            <a:r>
              <a:t>Robustness analysis across connectivity matrices and parameters</a:t>
            </a:r>
          </a:p>
          <a:p>
            <a:pPr>
              <a:spcAft>
                <a:spcPts val="1400"/>
              </a:spcAft>
              <a:defRPr sz="1500" b="0">
                <a:solidFill>
                  <a:srgbClr val="B0BEC5"/>
                </a:solidFill>
                <a:latin typeface="Calibri"/>
              </a:defRPr>
            </a:pPr>
            <a:r>
              <a:t>Parallelize ODE evaluations for faster heuristic convergence</a:t>
            </a:r>
          </a:p>
          <a:p>
            <a:pPr>
              <a:spcAft>
                <a:spcPts val="1400"/>
              </a:spcAft>
              <a:defRPr sz="1500" b="0">
                <a:solidFill>
                  <a:srgbClr val="B0BEC5"/>
                </a:solidFill>
                <a:latin typeface="Calibri"/>
              </a:defRPr>
            </a:pPr>
            <a:r>
              <a:t>Extend to multi-objective formulations (biomass + biodiversity)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4389120"/>
            <a:ext cx="9418320" cy="12700"/>
          </a:xfrm>
          <a:prstGeom prst="rect">
            <a:avLst/>
          </a:prstGeom>
          <a:solidFill>
            <a:srgbClr val="2A3F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475488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 Light"/>
              </a:defRPr>
            </a:pPr>
            <a:r>
              <a:t>Thank You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55778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BBDEFB"/>
                </a:solidFill>
                <a:latin typeface="Calibri"/>
              </a:defRPr>
            </a:pPr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