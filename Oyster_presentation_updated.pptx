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85" r:id="rId5"/>
    <p:sldId id="259" r:id="rId6"/>
    <p:sldId id="272" r:id="rId7"/>
    <p:sldId id="273" r:id="rId8"/>
    <p:sldId id="260" r:id="rId9"/>
    <p:sldId id="262" r:id="rId10"/>
    <p:sldId id="263" r:id="rId11"/>
    <p:sldId id="264" r:id="rId12"/>
    <p:sldId id="274" r:id="rId13"/>
    <p:sldId id="265" r:id="rId14"/>
    <p:sldId id="266" r:id="rId15"/>
    <p:sldId id="276" r:id="rId16"/>
    <p:sldId id="267" r:id="rId17"/>
    <p:sldId id="268" r:id="rId18"/>
    <p:sldId id="269" r:id="rId19"/>
    <p:sldId id="270" r:id="rId20"/>
    <p:sldId id="284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132"/>
    <a:srgbClr val="3B7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1445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mailto:maroufpaul1@gmail.com" TargetMode="External"/><Relationship Id="rId2" Type="http://schemas.openxmlformats.org/officeDocument/2006/relationships/hyperlink" Target="mailto:mmarouf@wm.edu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A3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280160"/>
            <a:ext cx="109728" cy="237744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96240" y="146304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Optimization of Oyster Reef</a:t>
            </a:r>
            <a:endParaRPr lang="en-US" sz="3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Restoration in Chesapeake Bay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96240" y="1227293"/>
            <a:ext cx="72313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7D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Heuristics, MIQP Surrogates, Community Constraints, Variable Sizing, and Network Analysis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68387" y="1772989"/>
            <a:ext cx="14281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Marouf Paul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11083" y="2063280"/>
            <a:ext cx="46845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Operations Research  ·  William &amp; Mary</a:t>
            </a:r>
            <a:endParaRPr lang="en-US" sz="1100" dirty="0"/>
          </a:p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Prof. Rex Kincaid  |  Collaborators: Leah Shaw, Rom </a:t>
            </a:r>
            <a:r>
              <a:rPr lang="en-US" sz="11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Lipcius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VIMS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923" y="146304"/>
            <a:ext cx="822960" cy="8229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C6FC7F-0FC4-7C15-A506-4591DCC067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523" y="2954214"/>
            <a:ext cx="1921999" cy="19219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8CC23B8-2B2A-79C2-3EB1-51159CA1C7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1918" y="2954214"/>
            <a:ext cx="1832340" cy="19803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Decision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this research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2468880" cy="988255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544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463040"/>
            <a:ext cx="13751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$Budget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3337560" y="1234440"/>
            <a:ext cx="2468880" cy="988255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55448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77640" y="1463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Potential Locations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6045591" y="1244112"/>
            <a:ext cx="2468880" cy="97858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55448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48279" y="1536895"/>
            <a:ext cx="18727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b="1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Sites to</a:t>
            </a:r>
            <a:endParaRPr lang="en-US" b="1" dirty="0">
              <a:latin typeface="Georgia" panose="02040502050405020303" pitchFamily="18" charset="0"/>
            </a:endParaRPr>
          </a:p>
          <a:p>
            <a:pPr algn="ctr">
              <a:lnSpc>
                <a:spcPct val="120000"/>
              </a:lnSpc>
            </a:pPr>
            <a:r>
              <a:rPr lang="en-US" b="1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Select</a:t>
            </a:r>
            <a:endParaRPr lang="en-US" b="1" dirty="0">
              <a:latin typeface="Georgia" panose="02040502050405020303" pitchFamily="18" charset="0"/>
            </a:endParaRPr>
          </a:p>
          <a:p>
            <a:pPr marL="0" indent="0" algn="ctr">
              <a:buNone/>
            </a:pPr>
            <a:endParaRPr lang="en-US" b="1" dirty="0">
              <a:latin typeface="Georgia" panose="02040502050405020303" pitchFamily="18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6400800" y="21031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52157" y="3657600"/>
            <a:ext cx="8046720" cy="1280160"/>
          </a:xfrm>
          <a:prstGeom prst="rect">
            <a:avLst/>
          </a:prstGeom>
          <a:solidFill>
            <a:srgbClr val="10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909125" y="37253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25 sites maximize long-run adult oyster biomass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across a spatially connected larval network?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914400" y="4371535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D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placement creates isolated sinks with minimal larval exchange — wasting limited resources.</a:t>
            </a:r>
            <a:endParaRPr lang="en-US" sz="1050" dirty="0"/>
          </a:p>
        </p:txBody>
      </p:sp>
      <p:sp>
        <p:nvSpPr>
          <p:cNvPr id="19" name="Rounded Rectangle 10">
            <a:extLst>
              <a:ext uri="{FF2B5EF4-FFF2-40B4-BE49-F238E27FC236}">
                <a16:creationId xmlns:a16="http://schemas.microsoft.com/office/drawing/2014/main" id="{D222D4E6-BD32-F7BB-CB84-991D8E734C23}"/>
              </a:ext>
            </a:extLst>
          </p:cNvPr>
          <p:cNvSpPr/>
          <p:nvPr/>
        </p:nvSpPr>
        <p:spPr>
          <a:xfrm>
            <a:off x="2926080" y="2405575"/>
            <a:ext cx="3193366" cy="10972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0" name="TextBox 11">
            <a:extLst>
              <a:ext uri="{FF2B5EF4-FFF2-40B4-BE49-F238E27FC236}">
                <a16:creationId xmlns:a16="http://schemas.microsoft.com/office/drawing/2014/main" id="{341D27E8-D6FB-83C5-AA75-FD0C09C1ECBC}"/>
              </a:ext>
            </a:extLst>
          </p:cNvPr>
          <p:cNvSpPr txBox="1"/>
          <p:nvPr/>
        </p:nvSpPr>
        <p:spPr>
          <a:xfrm>
            <a:off x="3200400" y="2377440"/>
            <a:ext cx="2743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4800" b="1">
                <a:solidFill>
                  <a:srgbClr val="2E7D32"/>
                </a:solidFill>
                <a:latin typeface="Calibri"/>
              </a:defRPr>
            </a:pPr>
            <a:r>
              <a:rPr lang="en-US" dirty="0"/>
              <a:t>63T</a:t>
            </a:r>
            <a:endParaRPr dirty="0"/>
          </a:p>
        </p:txBody>
      </p:sp>
      <p:sp>
        <p:nvSpPr>
          <p:cNvPr id="21" name="TextBox 12">
            <a:extLst>
              <a:ext uri="{FF2B5EF4-FFF2-40B4-BE49-F238E27FC236}">
                <a16:creationId xmlns:a16="http://schemas.microsoft.com/office/drawing/2014/main" id="{A4E4C9BE-81E1-6821-AD75-42D196E1D108}"/>
              </a:ext>
            </a:extLst>
          </p:cNvPr>
          <p:cNvSpPr txBox="1"/>
          <p:nvPr/>
        </p:nvSpPr>
        <p:spPr>
          <a:xfrm>
            <a:off x="3200400" y="3017520"/>
            <a:ext cx="27432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 b="0">
                <a:solidFill>
                  <a:srgbClr val="424242"/>
                </a:solidFill>
                <a:latin typeface="Calibri"/>
              </a:defRPr>
            </a:pPr>
            <a:r>
              <a:rPr dirty="0"/>
              <a:t>possible combinations</a:t>
            </a:r>
            <a:br>
              <a:rPr dirty="0"/>
            </a:br>
            <a:r>
              <a:rPr dirty="0"/>
              <a:t>C(4</a:t>
            </a:r>
            <a:r>
              <a:rPr lang="en-US" dirty="0"/>
              <a:t>9</a:t>
            </a:r>
            <a:r>
              <a:rPr dirty="0"/>
              <a:t>, 25) - brute force impossible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Isn't a Simple Ranking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Larval connectivity creates network interdependencies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0233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544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Network Effect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01168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oysters release larvae into the water column. Ocean currents carry them to other sites.</a:t>
            </a:r>
            <a:endParaRPr lang="en-US" sz="1150" dirty="0"/>
          </a:p>
          <a:p>
            <a:pPr marL="0" indent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of site A depends on whether you also restore the sites that receive its larvae.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not picking 25 independent locations — you're designing a network.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846320" y="1371600"/>
            <a:ext cx="3749040" cy="3200400"/>
          </a:xfrm>
          <a:prstGeom prst="rect">
            <a:avLst/>
          </a:prstGeom>
          <a:solidFill>
            <a:srgbClr val="102A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55448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3212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Super-Linear Production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120640" y="21488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4A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|A|¹·⁷²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5120640" y="288036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7D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Doubling adults → 3.3× larvae</a:t>
            </a:r>
            <a:endParaRPr lang="en-US" sz="1150" dirty="0"/>
          </a:p>
          <a:p>
            <a:pPr marL="0" indent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Concentrating resources on well-connected hubs pays off more than spreading thin.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biology itself rewards strategic network design.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2514199-8815-1C5D-924F-CEF0DCE59C5C}"/>
              </a:ext>
            </a:extLst>
          </p:cNvPr>
          <p:cNvSpPr/>
          <p:nvPr/>
        </p:nvSpPr>
        <p:spPr>
          <a:xfrm>
            <a:off x="457200" y="1371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JARS ODE System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B160343-3E45-ED2F-2047-4A127CE5695F}"/>
              </a:ext>
            </a:extLst>
          </p:cNvPr>
          <p:cNvSpPr/>
          <p:nvPr/>
        </p:nvSpPr>
        <p:spPr>
          <a:xfrm>
            <a:off x="457200" y="8183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ground truth — developed by Dr. Leah Shaw, Dr. Rom </a:t>
            </a:r>
            <a:r>
              <a:rPr lang="en-US" sz="1400" i="1" dirty="0" err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Lipcius</a:t>
            </a:r>
            <a:r>
              <a:rPr lang="en-US" sz="14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>
                <a:solidFill>
                  <a:srgbClr val="0D7377"/>
                </a:solidFill>
                <a:highlight>
                  <a:srgbClr val="C0C0C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https://doi.org/10.1016/j.jtbi.2011.08.013</a:t>
            </a:r>
            <a:endParaRPr lang="en-US" sz="1400" dirty="0">
              <a:highlight>
                <a:srgbClr val="C0C0C0"/>
              </a:highligh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4506AF-4FA6-6934-541A-144EA945F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69" y="1499616"/>
            <a:ext cx="8954862" cy="2289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845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JARS Metapopulation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biological "truth engine"</a:t>
            </a:r>
            <a:endParaRPr lang="en-US" sz="12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9E80FBFE-4683-EC2E-A5A2-419F8B5ED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487626"/>
            <a:ext cx="4637561" cy="2726234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854B2E8C-1E34-C67A-424C-172A27F3E4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510" y="1232382"/>
            <a:ext cx="4071730" cy="1708938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4A94CB73-5DC2-3C00-49DD-EA5A35F3D9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95" y="2941320"/>
            <a:ext cx="4071730" cy="17186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E048BA-D251-8E10-D977-9764FA9A8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484" y="555314"/>
            <a:ext cx="8178799" cy="3455543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545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53256AC-66DE-20A0-44BC-CF5C8AE2E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80" y="925917"/>
            <a:ext cx="4109720" cy="3955038"/>
          </a:xfrm>
          <a:prstGeom prst="rect">
            <a:avLst/>
          </a:prstGeom>
        </p:spPr>
      </p:pic>
      <p:sp>
        <p:nvSpPr>
          <p:cNvPr id="11" name="Rounded Rectangle 5">
            <a:extLst>
              <a:ext uri="{FF2B5EF4-FFF2-40B4-BE49-F238E27FC236}">
                <a16:creationId xmlns:a16="http://schemas.microsoft.com/office/drawing/2014/main" id="{6201EBC7-AF48-9C81-7F92-673206323465}"/>
              </a:ext>
            </a:extLst>
          </p:cNvPr>
          <p:cNvSpPr/>
          <p:nvPr/>
        </p:nvSpPr>
        <p:spPr>
          <a:xfrm>
            <a:off x="5476240" y="1225034"/>
            <a:ext cx="3205480" cy="341808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F6A3A2-22E1-51F2-7BE5-52DA0516E743}"/>
              </a:ext>
            </a:extLst>
          </p:cNvPr>
          <p:cNvSpPr txBox="1"/>
          <p:nvPr/>
        </p:nvSpPr>
        <p:spPr>
          <a:xfrm>
            <a:off x="5750559" y="1362194"/>
            <a:ext cx="2804795" cy="380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1B2A"/>
                </a:solidFill>
                <a:latin typeface="Calibri"/>
              </a:defRPr>
            </a:pPr>
            <a:r>
              <a:rPr dirty="0"/>
              <a:t>What This Shows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74790C-92BB-121F-E580-61946B590BE6}"/>
              </a:ext>
            </a:extLst>
          </p:cNvPr>
          <p:cNvSpPr txBox="1"/>
          <p:nvPr/>
        </p:nvSpPr>
        <p:spPr>
          <a:xfrm>
            <a:off x="5676582" y="1880206"/>
            <a:ext cx="2804795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rPr sz="1200" dirty="0"/>
              <a:t>56-site connectivity matrix from</a:t>
            </a:r>
            <a:br>
              <a:rPr sz="1200" dirty="0"/>
            </a:br>
            <a:r>
              <a:rPr sz="1200" dirty="0"/>
              <a:t>oceanographic larval transport modeling</a:t>
            </a:r>
          </a:p>
          <a:p>
            <a:pPr>
              <a:spcAft>
                <a:spcPts val="10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rPr sz="1200" dirty="0"/>
              <a:t>Hot cells = strong larval flow</a:t>
            </a:r>
            <a:br>
              <a:rPr sz="1200" dirty="0"/>
            </a:br>
            <a:r>
              <a:rPr sz="1200" dirty="0"/>
              <a:t>between source and destination reefs</a:t>
            </a:r>
          </a:p>
          <a:p>
            <a:pPr>
              <a:spcAft>
                <a:spcPts val="1000"/>
              </a:spcAft>
              <a:defRPr sz="1300" b="0">
                <a:solidFill>
                  <a:srgbClr val="424242"/>
                </a:solidFill>
                <a:latin typeface="Calibri"/>
              </a:defRPr>
            </a:pPr>
            <a:r>
              <a:rPr sz="1200" dirty="0"/>
              <a:t>Visible clustering: sites 10, 27-29,</a:t>
            </a:r>
            <a:br>
              <a:rPr sz="1200" dirty="0"/>
            </a:br>
            <a:r>
              <a:rPr sz="1200" dirty="0"/>
              <a:t>Off-diagonal structure reveals</a:t>
            </a:r>
            <a:br>
              <a:rPr sz="1200" dirty="0"/>
            </a:br>
            <a:r>
              <a:rPr sz="1200" dirty="0"/>
              <a:t>long-range larval pathways</a:t>
            </a:r>
          </a:p>
          <a:p>
            <a:pPr>
              <a:spcAft>
                <a:spcPts val="1000"/>
              </a:spcAft>
              <a:defRPr sz="1300" b="1">
                <a:solidFill>
                  <a:srgbClr val="424242"/>
                </a:solidFill>
                <a:latin typeface="Calibri"/>
              </a:defRPr>
            </a:pPr>
            <a:r>
              <a:rPr sz="1200" dirty="0"/>
              <a:t>This network structure drives which</a:t>
            </a:r>
            <a:br>
              <a:rPr sz="1200" dirty="0"/>
            </a:br>
            <a:r>
              <a:rPr sz="1200" dirty="0"/>
              <a:t>sites are most valuable to restore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AB2B37-9941-EC8B-7E6E-71DC30937786}"/>
              </a:ext>
            </a:extLst>
          </p:cNvPr>
          <p:cNvSpPr txBox="1"/>
          <p:nvPr/>
        </p:nvSpPr>
        <p:spPr>
          <a:xfrm>
            <a:off x="731520" y="190083"/>
            <a:ext cx="47447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1B2A"/>
                </a:solidFill>
                <a:latin typeface="Calibri Light"/>
              </a:defRPr>
            </a:pPr>
            <a:r>
              <a:rPr dirty="0"/>
              <a:t>Larval Connectivity Network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E20558-34CC-F041-C3EA-797AD0B5435D}"/>
              </a:ext>
            </a:extLst>
          </p:cNvPr>
          <p:cNvSpPr/>
          <p:nvPr/>
        </p:nvSpPr>
        <p:spPr>
          <a:xfrm>
            <a:off x="873760" y="705981"/>
            <a:ext cx="1645920" cy="381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948382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ODE-Based Heuristic Search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approaches to optimize directly on the biological model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73152" cy="96012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Greedy Forward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empty. Add the site with highest marginal gain. Repeat 25 times. ~925 ODE evaluations.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73152" cy="960120"/>
          </a:xfrm>
          <a:prstGeom prst="rect">
            <a:avLst/>
          </a:prstGeom>
          <a:solidFill>
            <a:srgbClr val="143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Post-Greedy 1-Swap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greedy solution. Try swapping one chosen site for one unchosen. Accept improvements. Repeat until no swap helps.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2326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73152" cy="960120"/>
          </a:xfrm>
          <a:prstGeom prst="rect">
            <a:avLst/>
          </a:prstGeom>
          <a:solidFill>
            <a:srgbClr val="10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33147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Stingy Backward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36347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all 49 sites. Remove the one whose removal hurts least. Repeat until 25 remain.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191000"/>
            <a:ext cx="8046720" cy="868680"/>
          </a:xfrm>
          <a:prstGeom prst="rect">
            <a:avLst/>
          </a:prstGeom>
          <a:solidFill>
            <a:srgbClr val="10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188720" y="4328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Post-greedy swap and stingy backward converge to the exact same 25 sites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88720" y="46939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evidence of a stable local optimum under the true ODE objective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A3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ODE Alone Isn't Enough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D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motivation for building a surrogate model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840480" cy="2560320"/>
          </a:xfrm>
          <a:prstGeom prst="rect">
            <a:avLst/>
          </a:prstGeom>
          <a:solidFill>
            <a:srgbClr val="102A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544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Computational Cost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05740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925 ODE evaluations per greedy run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minutes per experiment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analysis, parameter sweeps, and scenario testing become prohibitively expensive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371600"/>
            <a:ext cx="3840480" cy="2560320"/>
          </a:xfrm>
          <a:prstGeom prst="rect">
            <a:avLst/>
          </a:prstGeom>
          <a:solidFill>
            <a:srgbClr val="102A47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754880" y="1371600"/>
            <a:ext cx="3840480" cy="36576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6002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Constraints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029200" y="205740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restoration requires: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Community equity — minimum reefs per region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Variable reef sizing — 5 to 50 acres per site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acreage budgets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these to greedy search is impractical.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programming handles them naturally.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4160520"/>
            <a:ext cx="8046720" cy="68580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914400" y="42062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surrogate isn't a faster version of the same thing — it's a platform for asking richer questions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MIQP Surrogate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Approximating the ODE with a quadratic network-retention objective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60223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supply          internal retention (AND-gate: counts only if both sites selected)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3007360"/>
            <a:ext cx="384048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4452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314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AND-Gate Intuition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35102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xᵢ · xⱼ = 1 only when both endpoints are selected. A larval connection between reefs only matters if both reefs exist.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highway between two cities — only useful if both cities are built.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85362" y="3007360"/>
            <a:ext cx="3779520" cy="187379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9342" y="3088694"/>
            <a:ext cx="283700" cy="2837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08024" y="3104709"/>
            <a:ext cx="2699657" cy="267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 &amp; Extensibility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050972" y="3494798"/>
            <a:ext cx="3239589" cy="1249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&lt;0.5 second</a:t>
            </a:r>
            <a:endParaRPr lang="en-US" sz="2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minutes for ODE heuristics
</a:t>
            </a:r>
            <a:endParaRPr lang="en-US" sz="2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constraint = adding one line</a:t>
            </a:r>
            <a:endParaRPr lang="en-US" sz="2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AMPL model</a:t>
            </a:r>
            <a:endParaRPr lang="en-US" sz="24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CBDD80F-4359-9EBA-9601-0BD09154FA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147424"/>
            <a:ext cx="7914640" cy="136656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640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MIQP Model Variants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57519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from simple to full real-world planning model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822081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822081"/>
            <a:ext cx="73152" cy="77724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977529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9775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913521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 MIQP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187841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internal retention.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25 binary sites.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0" y="1050681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oyster_quad.mod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736481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1736481"/>
            <a:ext cx="73152" cy="777240"/>
          </a:xfrm>
          <a:prstGeom prst="rect">
            <a:avLst/>
          </a:prstGeom>
          <a:solidFill>
            <a:srgbClr val="143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2960" y="1891929"/>
            <a:ext cx="457200" cy="457200"/>
          </a:xfrm>
          <a:prstGeom prst="ellipse">
            <a:avLst/>
          </a:prstGeom>
          <a:solidFill>
            <a:srgbClr val="143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18919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1827921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Community Equity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2102241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minimum reefs per region.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community zones with minimums.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1965081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oyster_comm.mod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2650881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2650881"/>
            <a:ext cx="73152" cy="777240"/>
          </a:xfrm>
          <a:prstGeom prst="rect">
            <a:avLst/>
          </a:prstGeom>
          <a:solidFill>
            <a:srgbClr val="10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2960" y="2806329"/>
            <a:ext cx="457200" cy="457200"/>
          </a:xfrm>
          <a:prstGeom prst="ellipse">
            <a:avLst/>
          </a:prstGeom>
          <a:solidFill>
            <a:srgbClr val="10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28063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2742321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Variable Sizing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3016641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reef areas 5–50 acres.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acreage budget constraint.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0" y="2879481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oyster_size.mod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3565281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8640" y="3565281"/>
            <a:ext cx="73152" cy="777240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22960" y="3720729"/>
            <a:ext cx="457200" cy="457200"/>
          </a:xfrm>
          <a:prstGeom prst="ellipse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22960" y="37207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63040" y="3656721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Both Combined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63040" y="3931041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model: equity + sizing +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+ connectivity.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0" y="3793881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oyster_comm_size.mod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4406529"/>
            <a:ext cx="8046720" cy="685800"/>
          </a:xfrm>
          <a:prstGeom prst="rect">
            <a:avLst/>
          </a:prstGeom>
          <a:solidFill>
            <a:srgbClr val="10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14400" y="4350786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Sizing insight: equity-mandated weak sites get 5 acres; strong hubs get 40–50 acres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369"/>
            <a:ext cx="9143999" cy="118196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26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4" y="-3980833"/>
            <a:ext cx="1182335" cy="9144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69075" y="739"/>
            <a:ext cx="3227567" cy="1181596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035483-6768-1D66-7055-D12C7943FA0C}"/>
              </a:ext>
            </a:extLst>
          </p:cNvPr>
          <p:cNvSpPr txBox="1"/>
          <p:nvPr/>
        </p:nvSpPr>
        <p:spPr>
          <a:xfrm>
            <a:off x="524785" y="264870"/>
            <a:ext cx="5318475" cy="6739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300" b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MIQP Community / Sizing Constraints</a:t>
            </a:r>
            <a:endParaRPr lang="en-US" sz="23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F4FE9F9-1C08-8635-28F3-069543C60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9" y="1629289"/>
            <a:ext cx="4502131" cy="25972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774178-267A-8669-4A7B-241DF8137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1869" y="1629290"/>
            <a:ext cx="4466055" cy="2597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283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Surrogate Validation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MIQP agree with the true biological objective?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3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1810512"/>
            <a:ext cx="7498080" cy="34747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1828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 Heuristic (post-greedy)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1.880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1.733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MIQP → ODE validation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~1.867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~1.72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2542032"/>
            <a:ext cx="7498080" cy="34747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2560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9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9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2926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in common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749040"/>
            <a:ext cx="8046720" cy="1097280"/>
          </a:xfrm>
          <a:prstGeom prst="rect">
            <a:avLst/>
          </a:prstGeom>
          <a:solidFill>
            <a:srgbClr val="102A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931920"/>
            <a:ext cx="320040" cy="32004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80160" y="38862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quadratic surrogate captures the main drivers of the full nonlinear dynamics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280160" y="42519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7D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MIQP produces identical 25-site sets for both matrices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7D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 and MIQP differ by only 2 sites — small gap validates the surrogate approach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D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is trustworthy enough to explore constrained extensions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Plumbing vs. Faucets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vs. realistic external larval supply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840480" cy="36576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Constant P₀ = 170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"Pure plumbing" test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site gets the same external larvae. Differences in performance come solely from the internal connectivity structure.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the skeleton of the network — which sites form the most retentive, mutually reinforcing cluster.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all MIQP experiments.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84048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840480" cy="36576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Realistic P₀ ∈ {100, 200, 400}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874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"Faucets + pipes"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2240280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external supply based on empirical regional estimates.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in sites with large external supply even if less central. Some new sites appear (e.g., 6, 24, 38, 55, 60).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that survive both regimes are simultaneously well-connected AND well-supplied — the safest investment.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8950" y="0"/>
            <a:ext cx="6118093" cy="51435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5902" y="1379913"/>
            <a:ext cx="6118095" cy="3763265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047384" y="-24848"/>
            <a:ext cx="5143499" cy="5192552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B2077C-B34F-2057-51D8-2BFF35995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526" y="342900"/>
            <a:ext cx="7218948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680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A3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Backbone Hierarchy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D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increases as we intersect across more experimental dimensions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8046720" cy="3200400"/>
          </a:xfrm>
          <a:prstGeom prst="rect">
            <a:avLst/>
          </a:prstGeom>
          <a:solidFill>
            <a:srgbClr val="102A47"/>
          </a:solidFill>
          <a:ln w="6350">
            <a:solidFill>
              <a:srgbClr val="7DD3D6"/>
            </a:solidFill>
            <a:prstDash val="dash"/>
          </a:ln>
        </p:spPr>
        <p:txBody>
          <a:bodyPr/>
          <a:lstStyle/>
          <a:p>
            <a:r>
              <a:rPr lang="en-US" sz="1200" dirty="0"/>
              <a:t>Single </a:t>
            </a:r>
            <a:r>
              <a:rPr lang="en-US" sz="1200" dirty="0" err="1"/>
              <a:t>Matrics</a:t>
            </a:r>
            <a:r>
              <a:rPr lang="en-US" sz="1200" dirty="0"/>
              <a:t> Constant</a:t>
            </a:r>
          </a:p>
        </p:txBody>
      </p:sp>
      <p:sp>
        <p:nvSpPr>
          <p:cNvPr id="6" name="Shape 4"/>
          <p:cNvSpPr/>
          <p:nvPr/>
        </p:nvSpPr>
        <p:spPr>
          <a:xfrm>
            <a:off x="1188720" y="1691640"/>
            <a:ext cx="6766560" cy="2468880"/>
          </a:xfrm>
          <a:prstGeom prst="rect">
            <a:avLst/>
          </a:prstGeom>
          <a:solidFill>
            <a:srgbClr val="14375C"/>
          </a:solidFill>
          <a:ln w="6350">
            <a:solidFill>
              <a:srgbClr val="7DD3D6"/>
            </a:solidFill>
            <a:prstDash val="dash"/>
          </a:ln>
        </p:spPr>
        <p:txBody>
          <a:bodyPr/>
          <a:lstStyle/>
          <a:p>
            <a:r>
              <a:rPr lang="en-US" sz="1100" dirty="0"/>
              <a:t>Cross both Matrices</a:t>
            </a:r>
          </a:p>
        </p:txBody>
      </p:sp>
      <p:sp>
        <p:nvSpPr>
          <p:cNvPr id="7" name="Shape 5"/>
          <p:cNvSpPr/>
          <p:nvPr/>
        </p:nvSpPr>
        <p:spPr>
          <a:xfrm>
            <a:off x="1920240" y="2061949"/>
            <a:ext cx="5303520" cy="1737360"/>
          </a:xfrm>
          <a:prstGeom prst="rect">
            <a:avLst/>
          </a:prstGeom>
          <a:solidFill>
            <a:srgbClr val="0D7377"/>
          </a:solidFill>
          <a:ln w="6350">
            <a:solidFill>
              <a:srgbClr val="7DD3D6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743200" y="2423160"/>
            <a:ext cx="3657600" cy="1005840"/>
          </a:xfrm>
          <a:prstGeom prst="rect">
            <a:avLst/>
          </a:prstGeom>
          <a:solidFill>
            <a:srgbClr val="E8913A"/>
          </a:solidFill>
          <a:ln w="6350">
            <a:solidFill>
              <a:srgbClr val="7DD3D6"/>
            </a:solidFill>
            <a:prstDash val="dash"/>
          </a:ln>
        </p:spPr>
        <p:txBody>
          <a:bodyPr/>
          <a:lstStyle/>
          <a:p>
            <a:r>
              <a:rPr lang="en-US" sz="900" dirty="0"/>
              <a:t>Survive everything</a:t>
            </a:r>
          </a:p>
        </p:txBody>
      </p:sp>
      <p:sp>
        <p:nvSpPr>
          <p:cNvPr id="9" name="Text 7"/>
          <p:cNvSpPr/>
          <p:nvPr/>
        </p:nvSpPr>
        <p:spPr>
          <a:xfrm>
            <a:off x="6949440" y="13716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D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sites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0" y="1737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D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sites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852160" y="2103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sites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0" y="2423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74320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SUPER-BACKBONE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8046720" cy="1005840"/>
          </a:xfrm>
          <a:prstGeom prst="rect">
            <a:avLst/>
          </a:prstGeom>
          <a:solidFill>
            <a:srgbClr val="10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3931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A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Sites  {10, 31, 36, 40, 41, 49, 53}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 every model variant, every connectivity matrix, every forcing regime — the reefs the system cannot function without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Centrality Explains the Backbone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these sites keep appearing? The connectivity graph tells us.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8288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3716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828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In/Out-Strength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larval flow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and out of a site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651760" y="1280160"/>
            <a:ext cx="18288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37160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43200" y="1828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Eigenvector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2743200" y="2103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if connected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other important sites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754880" y="1280160"/>
            <a:ext cx="18288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13716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46320" y="1828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PageRank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4846320" y="2103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Random-walk importance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damping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858000" y="1280160"/>
            <a:ext cx="18288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137160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1828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Betweenness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6949440" y="2103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shortest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 through a site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548640" y="2926080"/>
            <a:ext cx="8046720" cy="320040"/>
          </a:xfrm>
          <a:prstGeom prst="rect">
            <a:avLst/>
          </a:prstGeom>
          <a:solidFill>
            <a:srgbClr val="10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731520" y="2944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Backbone Sites by Average Centrality Rank (Both Matrices)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548640" y="3273552"/>
            <a:ext cx="8046720" cy="29260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731520" y="32918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554480" y="329184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hub — highest eigenvector centrality and PageRank in both matrices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731520" y="35844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554480" y="358444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importer — highest in-strength in Matrix 2, consistently high PageRank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548640" y="3858768"/>
            <a:ext cx="8046720" cy="29260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731520" y="387705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1554480" y="387705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bidirectional hub — high in/out-strength and eigenvector in both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731520" y="41696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1554480" y="416966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exporter — very high out-strength, high betweenness in Matrix 1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548640" y="4443984"/>
            <a:ext cx="8046720" cy="29260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731520" y="44622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1554480" y="446227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hub — high eigenvector, strong bidirectional flow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731520" y="47548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36, 53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1554480" y="475488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bridges — high betweenness, linking otherwise separate regions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Complete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framework from raw data to actionable recommendation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1051560" cy="1051560"/>
          </a:xfrm>
          <a:prstGeom prst="rect">
            <a:avLst/>
          </a:prstGeom>
          <a:solidFill>
            <a:srgbClr val="10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3716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" y="24688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Data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82880" y="28803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Hydrodynamic matrices from VIMS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554480" y="1325880"/>
            <a:ext cx="1051560" cy="1051560"/>
          </a:xfrm>
          <a:prstGeom prst="rect">
            <a:avLst/>
          </a:prstGeom>
          <a:solidFill>
            <a:srgbClr val="10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54480" y="13716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17320" y="24688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JARS ODE Model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417320" y="28803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ground truth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88920" y="1325880"/>
            <a:ext cx="1051560" cy="1051560"/>
          </a:xfrm>
          <a:prstGeom prst="rect">
            <a:avLst/>
          </a:prstGeom>
          <a:solidFill>
            <a:srgbClr val="10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88920" y="13716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651760" y="24688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Search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651760" y="28803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Greedy, swap, stingy on ODE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023360" y="1325880"/>
            <a:ext cx="1051560" cy="1051560"/>
          </a:xfrm>
          <a:prstGeom prst="rect">
            <a:avLst/>
          </a:prstGeom>
          <a:solidFill>
            <a:srgbClr val="10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023360" y="13716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886200" y="24688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MIQP Surrogate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86200" y="28803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validated approximation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257800" y="1325880"/>
            <a:ext cx="1051560" cy="1051560"/>
          </a:xfrm>
          <a:prstGeom prst="rect">
            <a:avLst/>
          </a:prstGeom>
          <a:solidFill>
            <a:srgbClr val="10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57800" y="13716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120640" y="24688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Extensions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120640" y="28803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+ sizing constraints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92240" y="1325880"/>
            <a:ext cx="1051560" cy="1051560"/>
          </a:xfrm>
          <a:prstGeom prst="rect">
            <a:avLst/>
          </a:prstGeom>
          <a:solidFill>
            <a:srgbClr val="10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92240" y="13716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355080" y="24688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Analysis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55080" y="28803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sites across all lenses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726680" y="1325880"/>
            <a:ext cx="1051560" cy="105156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726680" y="13716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589520" y="24688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589520" y="28803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restoration plan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48640" y="3594100"/>
            <a:ext cx="8046720" cy="1452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57600"/>
            <a:ext cx="274320" cy="27432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18872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Contributions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822960" y="40233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 heuristics establish ground truth; MIQP surrogate enables policy exploration neither can do alone</a:t>
            </a:r>
            <a:endParaRPr lang="en-US" sz="1050" dirty="0"/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7-site super-backbone robust across all models, matrices, and forcing regimes</a:t>
            </a:r>
            <a:endParaRPr lang="en-US" sz="1050" dirty="0"/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centrality transparently explains why these sites are structurally critical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 + equity combined model provides actionable compromise for stakeholders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2024" y="14859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Directions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257300"/>
            <a:ext cx="54864" cy="100584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94944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Additional Matrices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22376" y="1640645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backbone stability across different years, seasons, and climate scenarios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9744" y="123444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09744" y="1234440"/>
            <a:ext cx="54864" cy="100584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38344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MIQP + 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38344" y="16459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MIQP solution as seed, then polish with ODE-based local search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" y="299466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3504" y="2994660"/>
            <a:ext cx="54864" cy="100584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2104" y="30861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Multi-Objective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2104" y="34061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biomass, equity, cost, recovery time, and resilience to shocks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920175" y="299466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92743" y="2994660"/>
            <a:ext cx="54864" cy="100584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63294" y="3080825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Control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03639" y="33375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restoration over time rather than one-shot placement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567AC2D-160C-DC49-A5B9-FE89E1BDDEE7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A3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27A858F-CDF4-872C-434D-5CB9D13C929B}"/>
              </a:ext>
            </a:extLst>
          </p:cNvPr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4A3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60D7D8A-6BC9-9553-CB51-FA4355DB165E}"/>
              </a:ext>
            </a:extLst>
          </p:cNvPr>
          <p:cNvSpPr/>
          <p:nvPr/>
        </p:nvSpPr>
        <p:spPr>
          <a:xfrm>
            <a:off x="0" y="52019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2449AC4-DE3A-F5BF-B4B5-FDA9850089CA}"/>
              </a:ext>
            </a:extLst>
          </p:cNvPr>
          <p:cNvSpPr/>
          <p:nvPr/>
        </p:nvSpPr>
        <p:spPr>
          <a:xfrm>
            <a:off x="3799840" y="1366647"/>
            <a:ext cx="1463040" cy="13716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9F2672B-CC92-CDB6-C1E4-F50790DF551E}"/>
              </a:ext>
            </a:extLst>
          </p:cNvPr>
          <p:cNvSpPr/>
          <p:nvPr/>
        </p:nvSpPr>
        <p:spPr>
          <a:xfrm>
            <a:off x="-40640" y="1570101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D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5242329-4251-E007-B07A-81CFF8FFF8EE}"/>
              </a:ext>
            </a:extLst>
          </p:cNvPr>
          <p:cNvSpPr/>
          <p:nvPr/>
        </p:nvSpPr>
        <p:spPr>
          <a:xfrm>
            <a:off x="-40640" y="2144141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Marouf Paul  ·  Computational Operations Research  ·  William &amp; Mary</a:t>
            </a: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1084BB9-F256-985D-2291-678BEA246F78}"/>
              </a:ext>
            </a:extLst>
          </p:cNvPr>
          <p:cNvSpPr/>
          <p:nvPr/>
        </p:nvSpPr>
        <p:spPr>
          <a:xfrm>
            <a:off x="0" y="259861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hlinkClick r:id="rId2"/>
              </a:rPr>
              <a:t>mmarouf@wm.edu</a:t>
            </a:r>
            <a:r>
              <a:rPr lang="en-US" sz="1100" dirty="0">
                <a:solidFill>
                  <a:schemeClr val="bg1"/>
                </a:solidFill>
              </a:rPr>
              <a:t> / </a:t>
            </a:r>
            <a:r>
              <a:rPr lang="en-US" sz="1100" dirty="0">
                <a:solidFill>
                  <a:schemeClr val="bg1"/>
                </a:solidFill>
                <a:hlinkClick r:id="rId3"/>
              </a:rPr>
              <a:t>maroufpaul1@gmail.com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416A4E80-D126-D2DF-03A9-C429F42D5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0080" y="3374199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23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2251</TotalTime>
  <Words>1341</Words>
  <Application>Microsoft Office PowerPoint</Application>
  <PresentationFormat>On-screen Show (16:9)</PresentationFormat>
  <Paragraphs>232</Paragraphs>
  <Slides>20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Optimization of Oyster Reef Restoration</dc:title>
  <dc:subject>PptxGenJS Presentation</dc:subject>
  <dc:creator>Marouf Paul</dc:creator>
  <cp:lastModifiedBy>Paul, Marouf</cp:lastModifiedBy>
  <cp:revision>10</cp:revision>
  <dcterms:created xsi:type="dcterms:W3CDTF">2026-02-14T17:01:49Z</dcterms:created>
  <dcterms:modified xsi:type="dcterms:W3CDTF">2026-05-22T14:02:21Z</dcterms:modified>
</cp:coreProperties>
</file>